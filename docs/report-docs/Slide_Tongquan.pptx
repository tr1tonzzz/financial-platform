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3"/>
  </p:normalViewPr>
  <p:slideViewPr>
    <p:cSldViewPr>
      <p:cViewPr varScale="1">
        <p:scale>
          <a:sx n="144" d="100"/>
          <a:sy n="144" d="100"/>
        </p:scale>
        <p:origin x="966" y="1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4499" y="0"/>
            <a:ext cx="5575488" cy="323999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39280" y="865833"/>
            <a:ext cx="4557395" cy="11626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39280" y="2017170"/>
            <a:ext cx="1960880" cy="7550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00598C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759988" cy="314099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00598C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00598C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759988" cy="313649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00598C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00598C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57289" y="-7139"/>
            <a:ext cx="2714625" cy="26217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67297" y="487462"/>
            <a:ext cx="5187315" cy="2265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33415" y="2999110"/>
            <a:ext cx="203200" cy="2070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00598C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4.xml"/><Relationship Id="rId5" Type="http://schemas.openxmlformats.org/officeDocument/2006/relationships/slide" Target="slide11.xml"/><Relationship Id="rId4" Type="http://schemas.openxmlformats.org/officeDocument/2006/relationships/slide" Target="slide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/>
          <p:nvPr/>
        </p:nvSpPr>
        <p:spPr>
          <a:xfrm>
            <a:off x="239280" y="865833"/>
            <a:ext cx="4557395" cy="116268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699"/>
              </a:lnSpc>
              <a:spcBef>
                <a:spcPts val="75"/>
              </a:spcBef>
            </a:pPr>
            <a:r>
              <a:rPr sz="2450" b="1" dirty="0">
                <a:solidFill>
                  <a:srgbClr val="00598C"/>
                </a:solidFill>
                <a:latin typeface="Arial"/>
                <a:cs typeface="Arial"/>
              </a:rPr>
              <a:t>BÁO</a:t>
            </a:r>
            <a:r>
              <a:rPr sz="2450" b="1" spc="-300" dirty="0">
                <a:solidFill>
                  <a:srgbClr val="00598C"/>
                </a:solidFill>
                <a:latin typeface="Arial"/>
                <a:cs typeface="Arial"/>
              </a:rPr>
              <a:t> </a:t>
            </a:r>
            <a:r>
              <a:rPr sz="2450" b="1" spc="-10" dirty="0">
                <a:solidFill>
                  <a:srgbClr val="00598C"/>
                </a:solidFill>
                <a:latin typeface="Arial"/>
                <a:cs typeface="Arial"/>
              </a:rPr>
              <a:t>CÁO</a:t>
            </a:r>
            <a:r>
              <a:rPr sz="2450" b="1" spc="-300" dirty="0">
                <a:solidFill>
                  <a:srgbClr val="00598C"/>
                </a:solidFill>
                <a:latin typeface="Arial"/>
                <a:cs typeface="Arial"/>
              </a:rPr>
              <a:t> </a:t>
            </a:r>
            <a:r>
              <a:rPr sz="2450" b="1" spc="105" dirty="0">
                <a:solidFill>
                  <a:srgbClr val="00598C"/>
                </a:solidFill>
                <a:latin typeface="Arial"/>
                <a:cs typeface="Arial"/>
              </a:rPr>
              <a:t>TỔNG</a:t>
            </a:r>
            <a:r>
              <a:rPr sz="2450" b="1" spc="-300" dirty="0">
                <a:solidFill>
                  <a:srgbClr val="00598C"/>
                </a:solidFill>
                <a:latin typeface="Arial"/>
                <a:cs typeface="Arial"/>
              </a:rPr>
              <a:t> </a:t>
            </a:r>
            <a:r>
              <a:rPr sz="2450" b="1" spc="45" dirty="0">
                <a:solidFill>
                  <a:srgbClr val="00598C"/>
                </a:solidFill>
                <a:latin typeface="Arial"/>
                <a:cs typeface="Arial"/>
              </a:rPr>
              <a:t>QUAN: </a:t>
            </a:r>
            <a:r>
              <a:rPr sz="2450" b="1" spc="65" dirty="0">
                <a:solidFill>
                  <a:srgbClr val="00598C"/>
                </a:solidFill>
                <a:latin typeface="Arial"/>
                <a:cs typeface="Arial"/>
              </a:rPr>
              <a:t>FINANCIAL</a:t>
            </a:r>
            <a:r>
              <a:rPr sz="2450" b="1" spc="-290" dirty="0">
                <a:solidFill>
                  <a:srgbClr val="00598C"/>
                </a:solidFill>
                <a:latin typeface="Arial"/>
                <a:cs typeface="Arial"/>
              </a:rPr>
              <a:t> </a:t>
            </a:r>
            <a:r>
              <a:rPr sz="2450" b="1" dirty="0">
                <a:solidFill>
                  <a:srgbClr val="00598C"/>
                </a:solidFill>
                <a:latin typeface="Arial"/>
                <a:cs typeface="Arial"/>
              </a:rPr>
              <a:t>DATA</a:t>
            </a:r>
            <a:r>
              <a:rPr sz="2450" b="1" spc="-290" dirty="0">
                <a:solidFill>
                  <a:srgbClr val="00598C"/>
                </a:solidFill>
                <a:latin typeface="Arial"/>
                <a:cs typeface="Arial"/>
              </a:rPr>
              <a:t> </a:t>
            </a:r>
            <a:r>
              <a:rPr sz="2450" b="1" spc="45" dirty="0">
                <a:solidFill>
                  <a:srgbClr val="00598C"/>
                </a:solidFill>
                <a:latin typeface="Arial"/>
                <a:cs typeface="Arial"/>
              </a:rPr>
              <a:t>PLATFORM </a:t>
            </a:r>
            <a:r>
              <a:rPr sz="2450" b="1" spc="140" dirty="0">
                <a:solidFill>
                  <a:srgbClr val="00598C"/>
                </a:solidFill>
                <a:latin typeface="Arial"/>
                <a:cs typeface="Arial"/>
              </a:rPr>
              <a:t>(FDP)</a:t>
            </a:r>
            <a:endParaRPr sz="245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39280" y="2017170"/>
            <a:ext cx="1960880" cy="755015"/>
          </a:xfrm>
          <a:prstGeom prst="rect">
            <a:avLst/>
          </a:prstGeom>
        </p:spPr>
        <p:txBody>
          <a:bodyPr vert="horz" wrap="square" lIns="0" tIns="844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65"/>
              </a:spcBef>
            </a:pPr>
            <a:r>
              <a:rPr sz="1200" b="1" spc="-50" dirty="0">
                <a:solidFill>
                  <a:srgbClr val="00598C"/>
                </a:solidFill>
                <a:latin typeface="Arial"/>
                <a:cs typeface="Arial"/>
              </a:rPr>
              <a:t>Sinh</a:t>
            </a:r>
            <a:r>
              <a:rPr sz="1200" b="1" spc="-25" dirty="0">
                <a:solidFill>
                  <a:srgbClr val="00598C"/>
                </a:solidFill>
                <a:latin typeface="Arial"/>
                <a:cs typeface="Arial"/>
              </a:rPr>
              <a:t> </a:t>
            </a:r>
            <a:r>
              <a:rPr sz="1200" b="1" spc="-35" dirty="0">
                <a:solidFill>
                  <a:srgbClr val="00598C"/>
                </a:solidFill>
                <a:latin typeface="Arial"/>
                <a:cs typeface="Arial"/>
              </a:rPr>
              <a:t>viên</a:t>
            </a:r>
            <a:r>
              <a:rPr sz="1200" b="1" spc="-25" dirty="0">
                <a:solidFill>
                  <a:srgbClr val="00598C"/>
                </a:solidFill>
                <a:latin typeface="Arial"/>
                <a:cs typeface="Arial"/>
              </a:rPr>
              <a:t> </a:t>
            </a:r>
            <a:r>
              <a:rPr sz="1200" b="1" spc="-45" dirty="0">
                <a:solidFill>
                  <a:srgbClr val="00598C"/>
                </a:solidFill>
                <a:latin typeface="Arial"/>
                <a:cs typeface="Arial"/>
              </a:rPr>
              <a:t>thực</a:t>
            </a:r>
            <a:r>
              <a:rPr sz="1200" b="1" spc="-30" dirty="0">
                <a:solidFill>
                  <a:srgbClr val="00598C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00598C"/>
                </a:solidFill>
                <a:latin typeface="Arial"/>
                <a:cs typeface="Arial"/>
              </a:rPr>
              <a:t>hiện:</a:t>
            </a:r>
            <a:endParaRPr sz="12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15"/>
              </a:spcBef>
            </a:pPr>
            <a:r>
              <a:rPr sz="1100" dirty="0">
                <a:latin typeface="Tahoma"/>
                <a:cs typeface="Tahoma"/>
              </a:rPr>
              <a:t>Phạm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Hải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Nam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-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20235791</a:t>
            </a:r>
            <a:endParaRPr sz="11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80"/>
              </a:spcBef>
            </a:pPr>
            <a:r>
              <a:rPr sz="1100" b="1" dirty="0">
                <a:latin typeface="Arial"/>
                <a:cs typeface="Arial"/>
              </a:rPr>
              <a:t>GVHD:</a:t>
            </a:r>
            <a:r>
              <a:rPr sz="1100" b="1" spc="45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TS.</a:t>
            </a:r>
            <a:r>
              <a:rPr sz="1100" b="1" spc="45" dirty="0">
                <a:latin typeface="Arial"/>
                <a:cs typeface="Arial"/>
              </a:rPr>
              <a:t> </a:t>
            </a:r>
            <a:r>
              <a:rPr sz="1100" b="1" spc="-40" dirty="0">
                <a:latin typeface="Arial"/>
                <a:cs typeface="Arial"/>
              </a:rPr>
              <a:t>Nguyễn</a:t>
            </a:r>
            <a:r>
              <a:rPr sz="1100" b="1" spc="50" dirty="0">
                <a:latin typeface="Arial"/>
                <a:cs typeface="Arial"/>
              </a:rPr>
              <a:t> </a:t>
            </a:r>
            <a:r>
              <a:rPr sz="1100" b="1" spc="-20" dirty="0">
                <a:latin typeface="Arial"/>
                <a:cs typeface="Arial"/>
              </a:rPr>
              <a:t>Đức</a:t>
            </a:r>
            <a:r>
              <a:rPr sz="1100" b="1" spc="45" dirty="0">
                <a:latin typeface="Arial"/>
                <a:cs typeface="Arial"/>
              </a:rPr>
              <a:t> </a:t>
            </a:r>
            <a:r>
              <a:rPr sz="1100" b="1" spc="-20" dirty="0">
                <a:latin typeface="Arial"/>
                <a:cs typeface="Arial"/>
              </a:rPr>
              <a:t>Toàn</a:t>
            </a:r>
            <a:endParaRPr sz="1100" dirty="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759988" cy="3136498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Nội</a:t>
            </a:r>
            <a:r>
              <a:rPr spc="125" dirty="0"/>
              <a:t> </a:t>
            </a:r>
            <a:r>
              <a:rPr dirty="0"/>
              <a:t>dung</a:t>
            </a:r>
            <a:r>
              <a:rPr spc="125" dirty="0"/>
              <a:t> </a:t>
            </a:r>
            <a:r>
              <a:rPr dirty="0"/>
              <a:t>trình</a:t>
            </a:r>
            <a:r>
              <a:rPr spc="125" dirty="0"/>
              <a:t> </a:t>
            </a:r>
            <a:r>
              <a:rPr dirty="0"/>
              <a:t>bày</a:t>
            </a:r>
            <a:r>
              <a:rPr spc="125" dirty="0"/>
              <a:t> </a:t>
            </a:r>
            <a:r>
              <a:rPr spc="-50" dirty="0"/>
              <a:t>I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86537" y="626006"/>
            <a:ext cx="2390775" cy="133159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39090" indent="-326390">
              <a:lnSpc>
                <a:spcPct val="100000"/>
              </a:lnSpc>
              <a:spcBef>
                <a:spcPts val="90"/>
              </a:spcBef>
              <a:buClr>
                <a:srgbClr val="00598C"/>
              </a:buClr>
              <a:buAutoNum type="arabicPeriod"/>
              <a:tabLst>
                <a:tab pos="339090" algn="l"/>
              </a:tabLst>
            </a:pPr>
            <a:r>
              <a:rPr sz="1100" dirty="0">
                <a:latin typeface="Tahoma"/>
                <a:cs typeface="Tahoma"/>
                <a:hlinkClick r:id="rId3" action="ppaction://hlinksldjump"/>
              </a:rPr>
              <a:t>Phần</a:t>
            </a:r>
            <a:r>
              <a:rPr sz="1100" spc="-80" dirty="0">
                <a:latin typeface="Tahoma"/>
                <a:cs typeface="Tahoma"/>
                <a:hlinkClick r:id="rId3" action="ppaction://hlinksldjump"/>
              </a:rPr>
              <a:t> </a:t>
            </a:r>
            <a:r>
              <a:rPr sz="1100" spc="-105" dirty="0">
                <a:latin typeface="Tahoma"/>
                <a:cs typeface="Tahoma"/>
                <a:hlinkClick r:id="rId3" action="ppaction://hlinksldjump"/>
              </a:rPr>
              <a:t>I:</a:t>
            </a:r>
            <a:r>
              <a:rPr sz="1100" spc="15" dirty="0">
                <a:latin typeface="Tahoma"/>
                <a:cs typeface="Tahoma"/>
                <a:hlinkClick r:id="rId3" action="ppaction://hlinksldjump"/>
              </a:rPr>
              <a:t> </a:t>
            </a:r>
            <a:r>
              <a:rPr sz="1100" spc="-25" dirty="0">
                <a:latin typeface="Tahoma"/>
                <a:cs typeface="Tahoma"/>
                <a:hlinkClick r:id="rId3" action="ppaction://hlinksldjump"/>
              </a:rPr>
              <a:t>Tổng</a:t>
            </a:r>
            <a:r>
              <a:rPr sz="1100" spc="-35" dirty="0">
                <a:latin typeface="Tahoma"/>
                <a:cs typeface="Tahoma"/>
                <a:hlinkClick r:id="rId3" action="ppaction://hlinksldjump"/>
              </a:rPr>
              <a:t> </a:t>
            </a:r>
            <a:r>
              <a:rPr sz="1100" spc="-50" dirty="0">
                <a:latin typeface="Tahoma"/>
                <a:cs typeface="Tahoma"/>
                <a:hlinkClick r:id="rId3" action="ppaction://hlinksldjump"/>
              </a:rPr>
              <a:t>quan</a:t>
            </a:r>
            <a:r>
              <a:rPr sz="1100" spc="-35" dirty="0">
                <a:latin typeface="Tahoma"/>
                <a:cs typeface="Tahoma"/>
                <a:hlinkClick r:id="rId3" action="ppaction://hlinksldjump"/>
              </a:rPr>
              <a:t> </a:t>
            </a:r>
            <a:r>
              <a:rPr sz="1100" spc="-50" dirty="0">
                <a:latin typeface="Tahoma"/>
                <a:cs typeface="Tahoma"/>
                <a:hlinkClick r:id="rId3" action="ppaction://hlinksldjump"/>
              </a:rPr>
              <a:t>đề</a:t>
            </a:r>
            <a:r>
              <a:rPr sz="1100" spc="-30" dirty="0">
                <a:latin typeface="Tahoma"/>
                <a:cs typeface="Tahoma"/>
                <a:hlinkClick r:id="rId3" action="ppaction://hlinksldjump"/>
              </a:rPr>
              <a:t> </a:t>
            </a:r>
            <a:r>
              <a:rPr sz="1100" spc="-25" dirty="0">
                <a:latin typeface="Tahoma"/>
                <a:cs typeface="Tahoma"/>
                <a:hlinkClick r:id="rId3" action="ppaction://hlinksldjump"/>
              </a:rPr>
              <a:t>tài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buClr>
                <a:srgbClr val="00598C"/>
              </a:buClr>
              <a:buFont typeface="Tahoma"/>
              <a:buAutoNum type="arabicPeriod"/>
            </a:pPr>
            <a:endParaRPr sz="1100">
              <a:latin typeface="Tahoma"/>
              <a:cs typeface="Tahoma"/>
            </a:endParaRPr>
          </a:p>
          <a:p>
            <a:pPr marL="339090" indent="-326390">
              <a:lnSpc>
                <a:spcPct val="100000"/>
              </a:lnSpc>
              <a:spcBef>
                <a:spcPts val="5"/>
              </a:spcBef>
              <a:buClr>
                <a:srgbClr val="00598C"/>
              </a:buClr>
              <a:buAutoNum type="arabicPeriod"/>
              <a:tabLst>
                <a:tab pos="339090" algn="l"/>
              </a:tabLst>
            </a:pPr>
            <a:r>
              <a:rPr sz="1100" dirty="0">
                <a:latin typeface="Tahoma"/>
                <a:cs typeface="Tahoma"/>
                <a:hlinkClick r:id="rId4" action="ppaction://hlinksldjump"/>
              </a:rPr>
              <a:t>Phần</a:t>
            </a:r>
            <a:r>
              <a:rPr sz="1100" spc="-90" dirty="0">
                <a:latin typeface="Tahoma"/>
                <a:cs typeface="Tahoma"/>
                <a:hlinkClick r:id="rId4" action="ppaction://hlinksldjump"/>
              </a:rPr>
              <a:t> </a:t>
            </a:r>
            <a:r>
              <a:rPr sz="1100" spc="-100" dirty="0">
                <a:latin typeface="Tahoma"/>
                <a:cs typeface="Tahoma"/>
                <a:hlinkClick r:id="rId4" action="ppaction://hlinksldjump"/>
              </a:rPr>
              <a:t>II:</a:t>
            </a:r>
            <a:r>
              <a:rPr sz="1100" spc="15" dirty="0">
                <a:latin typeface="Tahoma"/>
                <a:cs typeface="Tahoma"/>
                <a:hlinkClick r:id="rId4" action="ppaction://hlinksldjump"/>
              </a:rPr>
              <a:t> </a:t>
            </a:r>
            <a:r>
              <a:rPr sz="1100" dirty="0">
                <a:latin typeface="Tahoma"/>
                <a:cs typeface="Tahoma"/>
                <a:hlinkClick r:id="rId4" action="ppaction://hlinksldjump"/>
              </a:rPr>
              <a:t>Phân</a:t>
            </a:r>
            <a:r>
              <a:rPr sz="1100" spc="-55" dirty="0">
                <a:latin typeface="Tahoma"/>
                <a:cs typeface="Tahoma"/>
                <a:hlinkClick r:id="rId4" action="ppaction://hlinksldjump"/>
              </a:rPr>
              <a:t> </a:t>
            </a:r>
            <a:r>
              <a:rPr sz="1100" dirty="0">
                <a:latin typeface="Tahoma"/>
                <a:cs typeface="Tahoma"/>
                <a:hlinkClick r:id="rId4" action="ppaction://hlinksldjump"/>
              </a:rPr>
              <a:t>tích</a:t>
            </a:r>
            <a:r>
              <a:rPr sz="1100" spc="-45" dirty="0">
                <a:latin typeface="Tahoma"/>
                <a:cs typeface="Tahoma"/>
                <a:hlinkClick r:id="rId4" action="ppaction://hlinksldjump"/>
              </a:rPr>
              <a:t> </a:t>
            </a:r>
            <a:r>
              <a:rPr sz="1100" dirty="0">
                <a:latin typeface="Tahoma"/>
                <a:cs typeface="Tahoma"/>
                <a:hlinkClick r:id="rId4" action="ppaction://hlinksldjump"/>
              </a:rPr>
              <a:t>tập</a:t>
            </a:r>
            <a:r>
              <a:rPr sz="1100" spc="-40" dirty="0">
                <a:latin typeface="Tahoma"/>
                <a:cs typeface="Tahoma"/>
                <a:hlinkClick r:id="rId4" action="ppaction://hlinksldjump"/>
              </a:rPr>
              <a:t> </a:t>
            </a:r>
            <a:r>
              <a:rPr sz="1100" spc="-30" dirty="0">
                <a:latin typeface="Tahoma"/>
                <a:cs typeface="Tahoma"/>
                <a:hlinkClick r:id="rId4" action="ppaction://hlinksldjump"/>
              </a:rPr>
              <a:t>dữ</a:t>
            </a:r>
            <a:r>
              <a:rPr sz="1100" spc="-45" dirty="0">
                <a:latin typeface="Tahoma"/>
                <a:cs typeface="Tahoma"/>
                <a:hlinkClick r:id="rId4" action="ppaction://hlinksldjump"/>
              </a:rPr>
              <a:t> </a:t>
            </a:r>
            <a:r>
              <a:rPr sz="1100" spc="-20" dirty="0">
                <a:latin typeface="Tahoma"/>
                <a:cs typeface="Tahoma"/>
                <a:hlinkClick r:id="rId4" action="ppaction://hlinksldjump"/>
              </a:rPr>
              <a:t>liệu</a:t>
            </a:r>
            <a:r>
              <a:rPr sz="1100" spc="-45" dirty="0">
                <a:latin typeface="Tahoma"/>
                <a:cs typeface="Tahoma"/>
                <a:hlinkClick r:id="rId4" action="ppaction://hlinksldjump"/>
              </a:rPr>
              <a:t> </a:t>
            </a:r>
            <a:r>
              <a:rPr sz="1100" spc="-25" dirty="0">
                <a:latin typeface="Tahoma"/>
                <a:cs typeface="Tahoma"/>
                <a:hlinkClick r:id="rId4" action="ppaction://hlinksldjump"/>
              </a:rPr>
              <a:t>SEC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buClr>
                <a:srgbClr val="00598C"/>
              </a:buClr>
              <a:buFont typeface="Tahoma"/>
              <a:buAutoNum type="arabicPeriod"/>
            </a:pPr>
            <a:endParaRPr sz="1100">
              <a:latin typeface="Tahoma"/>
              <a:cs typeface="Tahoma"/>
            </a:endParaRPr>
          </a:p>
          <a:p>
            <a:pPr marL="339090" indent="-326390">
              <a:lnSpc>
                <a:spcPct val="100000"/>
              </a:lnSpc>
              <a:buClr>
                <a:srgbClr val="00598C"/>
              </a:buClr>
              <a:buAutoNum type="arabicPeriod"/>
              <a:tabLst>
                <a:tab pos="339090" algn="l"/>
              </a:tabLst>
            </a:pPr>
            <a:r>
              <a:rPr sz="1100" dirty="0">
                <a:latin typeface="Tahoma"/>
                <a:cs typeface="Tahoma"/>
                <a:hlinkClick r:id="rId5" action="ppaction://hlinksldjump"/>
              </a:rPr>
              <a:t>Phần</a:t>
            </a:r>
            <a:r>
              <a:rPr sz="1100" spc="-65" dirty="0">
                <a:latin typeface="Tahoma"/>
                <a:cs typeface="Tahoma"/>
                <a:hlinkClick r:id="rId5" action="ppaction://hlinksldjump"/>
              </a:rPr>
              <a:t> </a:t>
            </a:r>
            <a:r>
              <a:rPr sz="1100" spc="-100" dirty="0">
                <a:latin typeface="Tahoma"/>
                <a:cs typeface="Tahoma"/>
                <a:hlinkClick r:id="rId5" action="ppaction://hlinksldjump"/>
              </a:rPr>
              <a:t>III:</a:t>
            </a:r>
            <a:r>
              <a:rPr sz="1100" spc="15" dirty="0">
                <a:latin typeface="Tahoma"/>
                <a:cs typeface="Tahoma"/>
                <a:hlinkClick r:id="rId5" action="ppaction://hlinksldjump"/>
              </a:rPr>
              <a:t> </a:t>
            </a:r>
            <a:r>
              <a:rPr sz="1100" spc="-35" dirty="0">
                <a:latin typeface="Tahoma"/>
                <a:cs typeface="Tahoma"/>
                <a:hlinkClick r:id="rId5" action="ppaction://hlinksldjump"/>
              </a:rPr>
              <a:t>Nghiên</a:t>
            </a:r>
            <a:r>
              <a:rPr sz="1100" spc="-20" dirty="0">
                <a:latin typeface="Tahoma"/>
                <a:cs typeface="Tahoma"/>
                <a:hlinkClick r:id="rId5" action="ppaction://hlinksldjump"/>
              </a:rPr>
              <a:t> </a:t>
            </a:r>
            <a:r>
              <a:rPr sz="1100" spc="-40" dirty="0">
                <a:latin typeface="Tahoma"/>
                <a:cs typeface="Tahoma"/>
                <a:hlinkClick r:id="rId5" action="ppaction://hlinksldjump"/>
              </a:rPr>
              <a:t>cứu</a:t>
            </a:r>
            <a:r>
              <a:rPr sz="1100" spc="-30" dirty="0">
                <a:latin typeface="Tahoma"/>
                <a:cs typeface="Tahoma"/>
                <a:hlinkClick r:id="rId5" action="ppaction://hlinksldjump"/>
              </a:rPr>
              <a:t> </a:t>
            </a:r>
            <a:r>
              <a:rPr sz="1100" spc="-35" dirty="0">
                <a:latin typeface="Tahoma"/>
                <a:cs typeface="Tahoma"/>
                <a:hlinkClick r:id="rId5" action="ppaction://hlinksldjump"/>
              </a:rPr>
              <a:t>Case</a:t>
            </a:r>
            <a:r>
              <a:rPr sz="1100" spc="-20" dirty="0">
                <a:latin typeface="Tahoma"/>
                <a:cs typeface="Tahoma"/>
                <a:hlinkClick r:id="rId5" action="ppaction://hlinksldjump"/>
              </a:rPr>
              <a:t> </a:t>
            </a:r>
            <a:r>
              <a:rPr sz="1100" spc="-10" dirty="0">
                <a:latin typeface="Tahoma"/>
                <a:cs typeface="Tahoma"/>
                <a:hlinkClick r:id="rId5" action="ppaction://hlinksldjump"/>
              </a:rPr>
              <a:t>Study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45"/>
              </a:spcBef>
              <a:buClr>
                <a:srgbClr val="00598C"/>
              </a:buClr>
              <a:buFont typeface="Tahoma"/>
              <a:buAutoNum type="arabicPeriod"/>
            </a:pPr>
            <a:endParaRPr sz="1100">
              <a:latin typeface="Tahoma"/>
              <a:cs typeface="Tahoma"/>
            </a:endParaRPr>
          </a:p>
          <a:p>
            <a:pPr marL="339090" indent="-326390">
              <a:lnSpc>
                <a:spcPct val="100000"/>
              </a:lnSpc>
              <a:buClr>
                <a:srgbClr val="00598C"/>
              </a:buClr>
              <a:buAutoNum type="arabicPeriod"/>
              <a:tabLst>
                <a:tab pos="339090" algn="l"/>
              </a:tabLst>
            </a:pPr>
            <a:r>
              <a:rPr sz="1100" dirty="0">
                <a:latin typeface="Tahoma"/>
                <a:cs typeface="Tahoma"/>
                <a:hlinkClick r:id="rId6" action="ppaction://hlinksldjump"/>
              </a:rPr>
              <a:t>Phần</a:t>
            </a:r>
            <a:r>
              <a:rPr sz="1100" spc="-60" dirty="0">
                <a:latin typeface="Tahoma"/>
                <a:cs typeface="Tahoma"/>
                <a:hlinkClick r:id="rId6" action="ppaction://hlinksldjump"/>
              </a:rPr>
              <a:t> </a:t>
            </a:r>
            <a:r>
              <a:rPr sz="1100" spc="-20" dirty="0">
                <a:latin typeface="Tahoma"/>
                <a:cs typeface="Tahoma"/>
                <a:hlinkClick r:id="rId6" action="ppaction://hlinksldjump"/>
              </a:rPr>
              <a:t>IV:</a:t>
            </a:r>
            <a:r>
              <a:rPr sz="1100" spc="-55" dirty="0">
                <a:latin typeface="Tahoma"/>
                <a:cs typeface="Tahoma"/>
                <a:hlinkClick r:id="rId6" action="ppaction://hlinksldjump"/>
              </a:rPr>
              <a:t> </a:t>
            </a:r>
            <a:r>
              <a:rPr sz="1100" dirty="0">
                <a:latin typeface="Tahoma"/>
                <a:cs typeface="Tahoma"/>
                <a:hlinkClick r:id="rId6" action="ppaction://hlinksldjump"/>
              </a:rPr>
              <a:t>Phạm</a:t>
            </a:r>
            <a:r>
              <a:rPr sz="1100" spc="-45" dirty="0">
                <a:latin typeface="Tahoma"/>
                <a:cs typeface="Tahoma"/>
                <a:hlinkClick r:id="rId6" action="ppaction://hlinksldjump"/>
              </a:rPr>
              <a:t> </a:t>
            </a:r>
            <a:r>
              <a:rPr sz="1100" dirty="0">
                <a:latin typeface="Tahoma"/>
                <a:cs typeface="Tahoma"/>
                <a:hlinkClick r:id="rId6" action="ppaction://hlinksldjump"/>
              </a:rPr>
              <a:t>vi</a:t>
            </a:r>
            <a:r>
              <a:rPr sz="1100" spc="-50" dirty="0">
                <a:latin typeface="Tahoma"/>
                <a:cs typeface="Tahoma"/>
                <a:hlinkClick r:id="rId6" action="ppaction://hlinksldjump"/>
              </a:rPr>
              <a:t> </a:t>
            </a:r>
            <a:r>
              <a:rPr sz="1100" spc="-30" dirty="0">
                <a:latin typeface="Tahoma"/>
                <a:cs typeface="Tahoma"/>
                <a:hlinkClick r:id="rId6" action="ppaction://hlinksldjump"/>
              </a:rPr>
              <a:t>của</a:t>
            </a:r>
            <a:r>
              <a:rPr sz="1100" spc="-55" dirty="0">
                <a:latin typeface="Tahoma"/>
                <a:cs typeface="Tahoma"/>
                <a:hlinkClick r:id="rId6" action="ppaction://hlinksldjump"/>
              </a:rPr>
              <a:t> </a:t>
            </a:r>
            <a:r>
              <a:rPr sz="1100" spc="-50" dirty="0">
                <a:latin typeface="Tahoma"/>
                <a:cs typeface="Tahoma"/>
                <a:hlinkClick r:id="rId6" action="ppaction://hlinksldjump"/>
              </a:rPr>
              <a:t>đề</a:t>
            </a:r>
            <a:r>
              <a:rPr sz="1100" spc="-35" dirty="0">
                <a:latin typeface="Tahoma"/>
                <a:cs typeface="Tahoma"/>
                <a:hlinkClick r:id="rId6" action="ppaction://hlinksldjump"/>
              </a:rPr>
              <a:t> </a:t>
            </a:r>
            <a:r>
              <a:rPr sz="1100" spc="-25" dirty="0">
                <a:latin typeface="Tahoma"/>
                <a:cs typeface="Tahoma"/>
                <a:hlinkClick r:id="rId6" action="ppaction://hlinksldjump"/>
              </a:rPr>
              <a:t>tài</a:t>
            </a:r>
            <a:endParaRPr sz="1100">
              <a:latin typeface="Tahoma"/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759988" cy="3140998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744967" y="961338"/>
            <a:ext cx="2089785" cy="843280"/>
          </a:xfrm>
          <a:prstGeom prst="rect">
            <a:avLst/>
          </a:prstGeom>
        </p:spPr>
        <p:txBody>
          <a:bodyPr vert="horz" wrap="square" lIns="0" tIns="84455" rIns="0" bIns="0" rtlCol="0">
            <a:spAutoFit/>
          </a:bodyPr>
          <a:lstStyle/>
          <a:p>
            <a:pPr marL="635" algn="ctr">
              <a:lnSpc>
                <a:spcPct val="100000"/>
              </a:lnSpc>
              <a:spcBef>
                <a:spcPts val="665"/>
              </a:spcBef>
            </a:pPr>
            <a:r>
              <a:rPr sz="2450" b="1" dirty="0">
                <a:solidFill>
                  <a:srgbClr val="000000"/>
                </a:solidFill>
                <a:latin typeface="Arial"/>
                <a:cs typeface="Arial"/>
              </a:rPr>
              <a:t>Phần</a:t>
            </a:r>
            <a:r>
              <a:rPr sz="2450" b="1" spc="45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450" b="1" spc="90" dirty="0">
                <a:solidFill>
                  <a:srgbClr val="000000"/>
                </a:solidFill>
                <a:latin typeface="Arial"/>
                <a:cs typeface="Arial"/>
              </a:rPr>
              <a:t>I</a:t>
            </a:r>
            <a:endParaRPr sz="245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70"/>
              </a:spcBef>
            </a:pPr>
            <a:r>
              <a:rPr sz="2050" b="1" spc="-10" dirty="0">
                <a:solidFill>
                  <a:srgbClr val="000000"/>
                </a:solidFill>
                <a:latin typeface="Arial"/>
                <a:cs typeface="Arial"/>
              </a:rPr>
              <a:t>Tổng</a:t>
            </a:r>
            <a:r>
              <a:rPr sz="2050" b="1" spc="-4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050" b="1" spc="-25" dirty="0">
                <a:solidFill>
                  <a:srgbClr val="000000"/>
                </a:solidFill>
                <a:latin typeface="Arial"/>
                <a:cs typeface="Arial"/>
              </a:rPr>
              <a:t>quan</a:t>
            </a:r>
            <a:r>
              <a:rPr sz="2050" b="1" spc="-4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050" b="1" dirty="0">
                <a:solidFill>
                  <a:srgbClr val="000000"/>
                </a:solidFill>
                <a:latin typeface="Arial"/>
                <a:cs typeface="Arial"/>
              </a:rPr>
              <a:t>đề</a:t>
            </a:r>
            <a:r>
              <a:rPr sz="2050" b="1" spc="-4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050" b="1" spc="-25" dirty="0">
                <a:solidFill>
                  <a:srgbClr val="000000"/>
                </a:solidFill>
                <a:latin typeface="Arial"/>
                <a:cs typeface="Arial"/>
              </a:rPr>
              <a:t>tài</a:t>
            </a:r>
            <a:endParaRPr sz="205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57289" y="3858"/>
            <a:ext cx="105029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1.</a:t>
            </a:r>
            <a:r>
              <a:rPr spc="150" dirty="0"/>
              <a:t> </a:t>
            </a:r>
            <a:r>
              <a:rPr spc="50" dirty="0"/>
              <a:t>Đặt</a:t>
            </a:r>
            <a:r>
              <a:rPr spc="150" dirty="0"/>
              <a:t> </a:t>
            </a:r>
            <a:r>
              <a:rPr dirty="0"/>
              <a:t>vấn</a:t>
            </a:r>
            <a:r>
              <a:rPr spc="150" dirty="0"/>
              <a:t> </a:t>
            </a:r>
            <a:r>
              <a:rPr spc="-25" dirty="0"/>
              <a:t>đề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67297" y="443684"/>
            <a:ext cx="5245735" cy="194056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100" b="1" dirty="0">
                <a:latin typeface="Arial"/>
                <a:cs typeface="Arial"/>
              </a:rPr>
              <a:t>Bối</a:t>
            </a:r>
            <a:r>
              <a:rPr sz="1100" b="1" spc="20" dirty="0">
                <a:latin typeface="Arial"/>
                <a:cs typeface="Arial"/>
              </a:rPr>
              <a:t> </a:t>
            </a:r>
            <a:r>
              <a:rPr sz="1100" b="1" spc="-40" dirty="0">
                <a:latin typeface="Arial"/>
                <a:cs typeface="Arial"/>
              </a:rPr>
              <a:t>cảnh</a:t>
            </a:r>
            <a:r>
              <a:rPr sz="1100" b="1" spc="20" dirty="0">
                <a:latin typeface="Arial"/>
                <a:cs typeface="Arial"/>
              </a:rPr>
              <a:t> </a:t>
            </a:r>
            <a:r>
              <a:rPr sz="1100" b="1" spc="100" dirty="0">
                <a:latin typeface="Arial"/>
                <a:cs typeface="Arial"/>
              </a:rPr>
              <a:t>&amp;</a:t>
            </a:r>
            <a:r>
              <a:rPr sz="1100" b="1" spc="2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Nhu</a:t>
            </a:r>
            <a:r>
              <a:rPr sz="1100" b="1" spc="25" dirty="0">
                <a:latin typeface="Arial"/>
                <a:cs typeface="Arial"/>
              </a:rPr>
              <a:t> </a:t>
            </a:r>
            <a:r>
              <a:rPr sz="1100" b="1" spc="-20" dirty="0">
                <a:latin typeface="Arial"/>
                <a:cs typeface="Arial"/>
              </a:rPr>
              <a:t>cầu:</a:t>
            </a:r>
            <a:endParaRPr sz="1100">
              <a:latin typeface="Arial"/>
              <a:cs typeface="Arial"/>
            </a:endParaRPr>
          </a:p>
          <a:p>
            <a:pPr marL="289560" marR="193675" indent="-139065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Char char="–"/>
              <a:tabLst>
                <a:tab pos="289560" algn="l"/>
              </a:tabLst>
            </a:pPr>
            <a:r>
              <a:rPr sz="1100" dirty="0">
                <a:latin typeface="Tahoma"/>
                <a:cs typeface="Tahoma"/>
              </a:rPr>
              <a:t>Cần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một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hệ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thống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thu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thập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dữ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liệu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báo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cáo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tài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chính</a:t>
            </a:r>
            <a:r>
              <a:rPr sz="1100" spc="-45" dirty="0">
                <a:latin typeface="Tahoma"/>
                <a:cs typeface="Tahoma"/>
              </a:rPr>
              <a:t> công </a:t>
            </a:r>
            <a:r>
              <a:rPr sz="1100" spc="-20" dirty="0">
                <a:latin typeface="Tahoma"/>
                <a:cs typeface="Tahoma"/>
              </a:rPr>
              <a:t>khai,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chuẩn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hóa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thành các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chỉ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tiêu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thống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nhất.</a:t>
            </a:r>
            <a:endParaRPr sz="1100">
              <a:latin typeface="Tahoma"/>
              <a:cs typeface="Tahoma"/>
            </a:endParaRPr>
          </a:p>
          <a:p>
            <a:pPr marL="289560" marR="5080" indent="-139065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Char char="–"/>
              <a:tabLst>
                <a:tab pos="289560" algn="l"/>
              </a:tabLst>
            </a:pPr>
            <a:r>
              <a:rPr sz="1100" spc="-35" dirty="0">
                <a:latin typeface="Tahoma"/>
                <a:cs typeface="Tahoma"/>
              </a:rPr>
              <a:t>Yêu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cầu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kiểm</a:t>
            </a:r>
            <a:r>
              <a:rPr sz="1100" spc="-7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tra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chất</a:t>
            </a:r>
            <a:r>
              <a:rPr sz="1100" spc="-50" dirty="0">
                <a:latin typeface="Tahoma"/>
                <a:cs typeface="Tahoma"/>
              </a:rPr>
              <a:t> lượng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và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lưu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trữ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dữ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liệu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có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hỗ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trợ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truy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vấn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theo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thời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điểm </a:t>
            </a:r>
            <a:r>
              <a:rPr sz="1100" spc="-20" dirty="0">
                <a:latin typeface="Tahoma"/>
                <a:cs typeface="Tahoma"/>
              </a:rPr>
              <a:t>lịch </a:t>
            </a:r>
            <a:r>
              <a:rPr sz="1100" spc="-25" dirty="0">
                <a:latin typeface="Tahoma"/>
                <a:cs typeface="Tahoma"/>
              </a:rPr>
              <a:t>sử.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95"/>
              </a:spcBef>
              <a:buClr>
                <a:srgbClr val="3333B2"/>
              </a:buClr>
              <a:buFont typeface="Tahoma"/>
              <a:buChar char="–"/>
            </a:pP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1100" b="1" spc="-10" dirty="0">
                <a:latin typeface="Arial"/>
                <a:cs typeface="Arial"/>
              </a:rPr>
              <a:t>Giải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b="1" spc="-35" dirty="0">
                <a:latin typeface="Arial"/>
                <a:cs typeface="Arial"/>
              </a:rPr>
              <a:t>pháp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-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Hệ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b="1" spc="-25" dirty="0">
                <a:latin typeface="Arial"/>
                <a:cs typeface="Arial"/>
              </a:rPr>
              <a:t>thống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b="1" spc="-40" dirty="0">
                <a:latin typeface="Arial"/>
                <a:cs typeface="Arial"/>
              </a:rPr>
              <a:t>Financial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Data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Platform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b="1" spc="-10" dirty="0">
                <a:latin typeface="Arial"/>
                <a:cs typeface="Arial"/>
              </a:rPr>
              <a:t>(FDP):</a:t>
            </a:r>
            <a:endParaRPr sz="1100">
              <a:latin typeface="Arial"/>
              <a:cs typeface="Arial"/>
            </a:endParaRPr>
          </a:p>
          <a:p>
            <a:pPr marL="290830" indent="-139700">
              <a:lnSpc>
                <a:spcPct val="100000"/>
              </a:lnSpc>
              <a:spcBef>
                <a:spcPts val="335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spc="-25" dirty="0">
                <a:latin typeface="Arial"/>
                <a:cs typeface="Arial"/>
              </a:rPr>
              <a:t>Nguồn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65" dirty="0">
                <a:latin typeface="Arial"/>
                <a:cs typeface="Arial"/>
              </a:rPr>
              <a:t>dữ</a:t>
            </a:r>
            <a:r>
              <a:rPr sz="1100" b="1" spc="35" dirty="0">
                <a:latin typeface="Arial"/>
                <a:cs typeface="Arial"/>
              </a:rPr>
              <a:t> </a:t>
            </a:r>
            <a:r>
              <a:rPr sz="1100" b="1" spc="-35" dirty="0">
                <a:latin typeface="Arial"/>
                <a:cs typeface="Arial"/>
              </a:rPr>
              <a:t>liệu:</a:t>
            </a:r>
            <a:r>
              <a:rPr sz="1100" b="1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SEC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Financial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Statement </a:t>
            </a:r>
            <a:r>
              <a:rPr sz="1100" dirty="0">
                <a:latin typeface="Tahoma"/>
                <a:cs typeface="Tahoma"/>
              </a:rPr>
              <a:t>Data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Sets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(doanh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nghiệp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niêm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yết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tại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Mỹ).</a:t>
            </a:r>
            <a:endParaRPr sz="1100">
              <a:latin typeface="Tahoma"/>
              <a:cs typeface="Tahoma"/>
            </a:endParaRPr>
          </a:p>
          <a:p>
            <a:pPr marL="289560" marR="266065" indent="-139065">
              <a:lnSpc>
                <a:spcPct val="102699"/>
              </a:lnSpc>
              <a:spcBef>
                <a:spcPts val="295"/>
              </a:spcBef>
              <a:buClr>
                <a:srgbClr val="3333B2"/>
              </a:buClr>
              <a:buFont typeface="Tahoma"/>
              <a:buChar char="–"/>
              <a:tabLst>
                <a:tab pos="289560" algn="l"/>
              </a:tabLst>
            </a:pPr>
            <a:r>
              <a:rPr sz="1100" b="1" dirty="0">
                <a:latin typeface="Arial"/>
                <a:cs typeface="Arial"/>
              </a:rPr>
              <a:t>Vai</a:t>
            </a:r>
            <a:r>
              <a:rPr sz="1100" b="1" spc="1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trò: </a:t>
            </a:r>
            <a:r>
              <a:rPr sz="1100" spc="-20" dirty="0">
                <a:latin typeface="Tahoma"/>
                <a:cs typeface="Tahoma"/>
              </a:rPr>
              <a:t>Đóng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vai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trò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trung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gian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giữa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nguồn</a:t>
            </a:r>
            <a:r>
              <a:rPr sz="1100" spc="-30" dirty="0">
                <a:latin typeface="Tahoma"/>
                <a:cs typeface="Tahoma"/>
              </a:rPr>
              <a:t> dữ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liệu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công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khai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và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người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sử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dụng </a:t>
            </a:r>
            <a:r>
              <a:rPr sz="1100" spc="-25" dirty="0">
                <a:latin typeface="Tahoma"/>
                <a:cs typeface="Tahoma"/>
              </a:rPr>
              <a:t>thông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qua </a:t>
            </a:r>
            <a:r>
              <a:rPr sz="1100" spc="-25" dirty="0">
                <a:latin typeface="Tahoma"/>
                <a:cs typeface="Tahoma"/>
              </a:rPr>
              <a:t>giao</a:t>
            </a:r>
            <a:r>
              <a:rPr sz="1100" spc="-40" dirty="0">
                <a:latin typeface="Tahoma"/>
                <a:cs typeface="Tahoma"/>
              </a:rPr>
              <a:t> diện </a:t>
            </a:r>
            <a:r>
              <a:rPr sz="1100" spc="-80" dirty="0">
                <a:latin typeface="Tahoma"/>
                <a:cs typeface="Tahoma"/>
              </a:rPr>
              <a:t>web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và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API.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2.</a:t>
            </a:r>
            <a:r>
              <a:rPr spc="110" dirty="0"/>
              <a:t> </a:t>
            </a:r>
            <a:r>
              <a:rPr dirty="0"/>
              <a:t>Mục</a:t>
            </a:r>
            <a:r>
              <a:rPr spc="110" dirty="0"/>
              <a:t> </a:t>
            </a:r>
            <a:r>
              <a:rPr dirty="0"/>
              <a:t>tiêu</a:t>
            </a:r>
            <a:r>
              <a:rPr spc="114" dirty="0"/>
              <a:t> </a:t>
            </a:r>
            <a:r>
              <a:rPr dirty="0"/>
              <a:t>đề</a:t>
            </a:r>
            <a:r>
              <a:rPr spc="110" dirty="0"/>
              <a:t> </a:t>
            </a:r>
            <a:r>
              <a:rPr spc="-25" dirty="0"/>
              <a:t>tài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Thiết</a:t>
            </a:r>
            <a:r>
              <a:rPr spc="-60" dirty="0"/>
              <a:t> </a:t>
            </a:r>
            <a:r>
              <a:rPr spc="-45" dirty="0"/>
              <a:t>kế</a:t>
            </a:r>
            <a:r>
              <a:rPr spc="-40" dirty="0"/>
              <a:t> </a:t>
            </a:r>
            <a:r>
              <a:rPr spc="-10" dirty="0"/>
              <a:t>và</a:t>
            </a:r>
            <a:r>
              <a:rPr spc="-45" dirty="0"/>
              <a:t> xây</a:t>
            </a:r>
            <a:r>
              <a:rPr spc="-40" dirty="0"/>
              <a:t> </a:t>
            </a:r>
            <a:r>
              <a:rPr spc="-55" dirty="0"/>
              <a:t>dựng</a:t>
            </a:r>
            <a:r>
              <a:rPr spc="-35" dirty="0"/>
              <a:t> hệ</a:t>
            </a:r>
            <a:r>
              <a:rPr spc="-40" dirty="0"/>
              <a:t> </a:t>
            </a:r>
            <a:r>
              <a:rPr spc="-25" dirty="0"/>
              <a:t>thống</a:t>
            </a:r>
            <a:r>
              <a:rPr spc="-40" dirty="0"/>
              <a:t> </a:t>
            </a:r>
            <a:r>
              <a:rPr spc="-20" dirty="0"/>
              <a:t>xử</a:t>
            </a:r>
            <a:r>
              <a:rPr spc="-45" dirty="0"/>
              <a:t> </a:t>
            </a:r>
            <a:r>
              <a:rPr dirty="0"/>
              <a:t>lý</a:t>
            </a:r>
            <a:r>
              <a:rPr spc="-45" dirty="0"/>
              <a:t> </a:t>
            </a:r>
            <a:r>
              <a:rPr spc="-20" dirty="0"/>
              <a:t>dữ</a:t>
            </a:r>
            <a:r>
              <a:rPr spc="-40" dirty="0"/>
              <a:t> </a:t>
            </a:r>
            <a:r>
              <a:rPr spc="-10" dirty="0"/>
              <a:t>liệu</a:t>
            </a:r>
            <a:r>
              <a:rPr spc="-40" dirty="0"/>
              <a:t> </a:t>
            </a:r>
            <a:r>
              <a:rPr dirty="0"/>
              <a:t>tài</a:t>
            </a:r>
            <a:r>
              <a:rPr spc="-45" dirty="0"/>
              <a:t> </a:t>
            </a:r>
            <a:r>
              <a:rPr spc="-25" dirty="0"/>
              <a:t>chính</a:t>
            </a:r>
            <a:r>
              <a:rPr spc="-45" dirty="0"/>
              <a:t> </a:t>
            </a:r>
            <a:r>
              <a:rPr spc="-25" dirty="0"/>
              <a:t>theo</a:t>
            </a:r>
            <a:r>
              <a:rPr spc="-40" dirty="0"/>
              <a:t> </a:t>
            </a:r>
            <a:r>
              <a:rPr spc="-35" dirty="0"/>
              <a:t>quy</a:t>
            </a:r>
            <a:r>
              <a:rPr spc="-45" dirty="0"/>
              <a:t> </a:t>
            </a:r>
            <a:r>
              <a:rPr spc="-10" dirty="0"/>
              <a:t>trình</a:t>
            </a:r>
            <a:r>
              <a:rPr spc="-45" dirty="0"/>
              <a:t> </a:t>
            </a:r>
            <a:r>
              <a:rPr spc="-25" dirty="0"/>
              <a:t>thống</a:t>
            </a:r>
            <a:r>
              <a:rPr spc="-45" dirty="0"/>
              <a:t> </a:t>
            </a:r>
            <a:r>
              <a:rPr spc="-10" dirty="0"/>
              <a:t>nhất:</a:t>
            </a:r>
          </a:p>
          <a:p>
            <a:pPr marL="2485390" marR="5080" indent="-2414905">
              <a:lnSpc>
                <a:spcPct val="102600"/>
              </a:lnSpc>
              <a:spcBef>
                <a:spcPts val="894"/>
              </a:spcBef>
            </a:pPr>
            <a:r>
              <a:rPr b="1" dirty="0">
                <a:latin typeface="Arial"/>
                <a:cs typeface="Arial"/>
              </a:rPr>
              <a:t>Thu</a:t>
            </a:r>
            <a:r>
              <a:rPr b="1" spc="2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thập</a:t>
            </a:r>
            <a:r>
              <a:rPr b="1" spc="2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→</a:t>
            </a:r>
            <a:r>
              <a:rPr i="1" spc="30" dirty="0">
                <a:latin typeface="Arial"/>
                <a:cs typeface="Arial"/>
              </a:rPr>
              <a:t> </a:t>
            </a:r>
            <a:r>
              <a:rPr b="1" spc="-35" dirty="0">
                <a:latin typeface="Arial"/>
                <a:cs typeface="Arial"/>
              </a:rPr>
              <a:t>Chuẩn</a:t>
            </a:r>
            <a:r>
              <a:rPr b="1" spc="25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hóa</a:t>
            </a:r>
            <a:r>
              <a:rPr b="1" spc="2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→</a:t>
            </a:r>
            <a:r>
              <a:rPr i="1" spc="2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Kiểm</a:t>
            </a:r>
            <a:r>
              <a:rPr b="1" spc="2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tra</a:t>
            </a:r>
            <a:r>
              <a:rPr b="1" spc="2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chất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spc="-85" dirty="0">
                <a:latin typeface="Arial"/>
                <a:cs typeface="Arial"/>
              </a:rPr>
              <a:t>lượng</a:t>
            </a:r>
            <a:r>
              <a:rPr b="1" spc="2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→</a:t>
            </a:r>
            <a:r>
              <a:rPr i="1" spc="30" dirty="0">
                <a:latin typeface="Arial"/>
                <a:cs typeface="Arial"/>
              </a:rPr>
              <a:t> </a:t>
            </a:r>
            <a:r>
              <a:rPr b="1" spc="-40" dirty="0">
                <a:latin typeface="Arial"/>
                <a:cs typeface="Arial"/>
              </a:rPr>
              <a:t>Lưu</a:t>
            </a:r>
            <a:r>
              <a:rPr b="1" spc="2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trữ</a:t>
            </a:r>
            <a:r>
              <a:rPr b="1" spc="2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→</a:t>
            </a:r>
            <a:r>
              <a:rPr i="1" spc="2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Truy</a:t>
            </a:r>
            <a:r>
              <a:rPr b="1" spc="25" dirty="0">
                <a:latin typeface="Arial"/>
                <a:cs typeface="Arial"/>
              </a:rPr>
              <a:t> </a:t>
            </a:r>
            <a:r>
              <a:rPr b="1" spc="-20" dirty="0">
                <a:latin typeface="Arial"/>
                <a:cs typeface="Arial"/>
              </a:rPr>
              <a:t>vấn</a:t>
            </a:r>
            <a:r>
              <a:rPr b="1" spc="2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→</a:t>
            </a:r>
            <a:r>
              <a:rPr i="1" spc="30" dirty="0">
                <a:latin typeface="Arial"/>
                <a:cs typeface="Arial"/>
              </a:rPr>
              <a:t> </a:t>
            </a:r>
            <a:r>
              <a:rPr b="1" spc="-20" dirty="0">
                <a:latin typeface="Arial"/>
                <a:cs typeface="Arial"/>
              </a:rPr>
              <a:t>Khai thác</a:t>
            </a:r>
          </a:p>
          <a:p>
            <a:pPr>
              <a:lnSpc>
                <a:spcPct val="100000"/>
              </a:lnSpc>
              <a:spcBef>
                <a:spcPts val="215"/>
              </a:spcBef>
            </a:pPr>
            <a:endParaRPr b="1" spc="-2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b="1" spc="-20" dirty="0">
                <a:latin typeface="Arial"/>
                <a:cs typeface="Arial"/>
              </a:rPr>
              <a:t>Các</a:t>
            </a:r>
            <a:r>
              <a:rPr b="1" spc="-25" dirty="0">
                <a:latin typeface="Arial"/>
                <a:cs typeface="Arial"/>
              </a:rPr>
              <a:t> mục</a:t>
            </a:r>
            <a:r>
              <a:rPr b="1" spc="-2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tiêu</a:t>
            </a:r>
            <a:r>
              <a:rPr b="1" spc="-20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cụ</a:t>
            </a:r>
            <a:r>
              <a:rPr b="1" spc="-20" dirty="0">
                <a:latin typeface="Arial"/>
                <a:cs typeface="Arial"/>
              </a:rPr>
              <a:t> thể:</a:t>
            </a:r>
          </a:p>
          <a:p>
            <a:pPr marL="290830" indent="-139700">
              <a:lnSpc>
                <a:spcPct val="100000"/>
              </a:lnSpc>
              <a:spcBef>
                <a:spcPts val="334"/>
              </a:spcBef>
              <a:buClr>
                <a:srgbClr val="3333B2"/>
              </a:buClr>
              <a:buChar char="–"/>
              <a:tabLst>
                <a:tab pos="290830" algn="l"/>
              </a:tabLst>
            </a:pPr>
            <a:r>
              <a:rPr dirty="0"/>
              <a:t>Thu</a:t>
            </a:r>
            <a:r>
              <a:rPr spc="-35" dirty="0"/>
              <a:t> </a:t>
            </a:r>
            <a:r>
              <a:rPr spc="-20" dirty="0"/>
              <a:t>thập</a:t>
            </a:r>
            <a:r>
              <a:rPr spc="-25" dirty="0"/>
              <a:t> </a:t>
            </a:r>
            <a:r>
              <a:rPr spc="-30" dirty="0"/>
              <a:t>dữ </a:t>
            </a:r>
            <a:r>
              <a:rPr spc="-20" dirty="0"/>
              <a:t>liệu</a:t>
            </a:r>
            <a:r>
              <a:rPr spc="-30" dirty="0"/>
              <a:t> </a:t>
            </a:r>
            <a:r>
              <a:rPr dirty="0"/>
              <a:t>tài</a:t>
            </a:r>
            <a:r>
              <a:rPr spc="-25" dirty="0"/>
              <a:t> chính</a:t>
            </a:r>
            <a:r>
              <a:rPr spc="-30" dirty="0"/>
              <a:t> </a:t>
            </a:r>
            <a:r>
              <a:rPr dirty="0"/>
              <a:t>từ</a:t>
            </a:r>
            <a:r>
              <a:rPr spc="-30" dirty="0"/>
              <a:t> </a:t>
            </a:r>
            <a:r>
              <a:rPr spc="-20" dirty="0"/>
              <a:t>SEC.</a:t>
            </a:r>
          </a:p>
          <a:p>
            <a:pPr marL="290830" indent="-139700">
              <a:lnSpc>
                <a:spcPct val="100000"/>
              </a:lnSpc>
              <a:spcBef>
                <a:spcPts val="330"/>
              </a:spcBef>
              <a:buClr>
                <a:srgbClr val="3333B2"/>
              </a:buClr>
              <a:buChar char="–"/>
              <a:tabLst>
                <a:tab pos="290830" algn="l"/>
              </a:tabLst>
            </a:pPr>
            <a:r>
              <a:rPr spc="-30" dirty="0"/>
              <a:t>Chuẩn</a:t>
            </a:r>
            <a:r>
              <a:rPr spc="-50" dirty="0"/>
              <a:t> </a:t>
            </a:r>
            <a:r>
              <a:rPr spc="-40" dirty="0"/>
              <a:t>hóa </a:t>
            </a:r>
            <a:r>
              <a:rPr spc="-30" dirty="0"/>
              <a:t>dữ</a:t>
            </a:r>
            <a:r>
              <a:rPr spc="-45" dirty="0"/>
              <a:t> </a:t>
            </a:r>
            <a:r>
              <a:rPr spc="-20" dirty="0"/>
              <a:t>liệu</a:t>
            </a:r>
            <a:r>
              <a:rPr spc="-45" dirty="0"/>
              <a:t> </a:t>
            </a:r>
            <a:r>
              <a:rPr dirty="0"/>
              <a:t>thô</a:t>
            </a:r>
            <a:r>
              <a:rPr spc="-45" dirty="0"/>
              <a:t> </a:t>
            </a:r>
            <a:r>
              <a:rPr spc="-25" dirty="0"/>
              <a:t>thành</a:t>
            </a:r>
            <a:r>
              <a:rPr spc="-40" dirty="0"/>
              <a:t> </a:t>
            </a:r>
            <a:r>
              <a:rPr dirty="0"/>
              <a:t>tập</a:t>
            </a:r>
            <a:r>
              <a:rPr spc="-45" dirty="0"/>
              <a:t> </a:t>
            </a:r>
            <a:r>
              <a:rPr dirty="0"/>
              <a:t>chỉ</a:t>
            </a:r>
            <a:r>
              <a:rPr spc="-50" dirty="0"/>
              <a:t> </a:t>
            </a:r>
            <a:r>
              <a:rPr spc="-10" dirty="0"/>
              <a:t>tiêu</a:t>
            </a:r>
            <a:r>
              <a:rPr spc="-40" dirty="0"/>
              <a:t> </a:t>
            </a:r>
            <a:r>
              <a:rPr dirty="0"/>
              <a:t>tài</a:t>
            </a:r>
            <a:r>
              <a:rPr spc="-45" dirty="0"/>
              <a:t> </a:t>
            </a:r>
            <a:r>
              <a:rPr spc="-25" dirty="0"/>
              <a:t>chính</a:t>
            </a:r>
            <a:r>
              <a:rPr spc="-45" dirty="0"/>
              <a:t> </a:t>
            </a:r>
            <a:r>
              <a:rPr spc="-40" dirty="0"/>
              <a:t>chuẩn</a:t>
            </a:r>
            <a:r>
              <a:rPr spc="-45" dirty="0"/>
              <a:t> </a:t>
            </a:r>
            <a:r>
              <a:rPr spc="-40" dirty="0"/>
              <a:t>hóa</a:t>
            </a:r>
            <a:r>
              <a:rPr spc="-45" dirty="0"/>
              <a:t> </a:t>
            </a:r>
            <a:r>
              <a:rPr spc="-30" dirty="0"/>
              <a:t>(canonical</a:t>
            </a:r>
            <a:r>
              <a:rPr spc="-45" dirty="0"/>
              <a:t> </a:t>
            </a:r>
            <a:r>
              <a:rPr spc="-10" dirty="0"/>
              <a:t>metrics).</a:t>
            </a:r>
          </a:p>
          <a:p>
            <a:pPr marL="290830" indent="-139700">
              <a:lnSpc>
                <a:spcPct val="100000"/>
              </a:lnSpc>
              <a:spcBef>
                <a:spcPts val="335"/>
              </a:spcBef>
              <a:buClr>
                <a:srgbClr val="3333B2"/>
              </a:buClr>
              <a:buChar char="–"/>
              <a:tabLst>
                <a:tab pos="290830" algn="l"/>
              </a:tabLst>
            </a:pPr>
            <a:r>
              <a:rPr dirty="0"/>
              <a:t>Kiểm</a:t>
            </a:r>
            <a:r>
              <a:rPr spc="-50" dirty="0"/>
              <a:t> </a:t>
            </a:r>
            <a:r>
              <a:rPr dirty="0"/>
              <a:t>tra</a:t>
            </a:r>
            <a:r>
              <a:rPr spc="-35" dirty="0"/>
              <a:t> </a:t>
            </a:r>
            <a:r>
              <a:rPr spc="-10" dirty="0"/>
              <a:t>và</a:t>
            </a:r>
            <a:r>
              <a:rPr spc="-45" dirty="0"/>
              <a:t> </a:t>
            </a:r>
            <a:r>
              <a:rPr spc="-20" dirty="0"/>
              <a:t>ghi</a:t>
            </a:r>
            <a:r>
              <a:rPr spc="-40" dirty="0"/>
              <a:t> </a:t>
            </a:r>
            <a:r>
              <a:rPr spc="-50" dirty="0"/>
              <a:t>nhận</a:t>
            </a:r>
            <a:r>
              <a:rPr spc="-40" dirty="0"/>
              <a:t> </a:t>
            </a:r>
            <a:r>
              <a:rPr spc="-10" dirty="0"/>
              <a:t>các</a:t>
            </a:r>
            <a:r>
              <a:rPr spc="-40" dirty="0"/>
              <a:t> vấn </a:t>
            </a:r>
            <a:r>
              <a:rPr spc="-50" dirty="0"/>
              <a:t>đề</a:t>
            </a:r>
            <a:r>
              <a:rPr spc="-40" dirty="0"/>
              <a:t> </a:t>
            </a:r>
            <a:r>
              <a:rPr spc="-10" dirty="0"/>
              <a:t>chất</a:t>
            </a:r>
            <a:r>
              <a:rPr spc="-40" dirty="0"/>
              <a:t> </a:t>
            </a:r>
            <a:r>
              <a:rPr spc="-50" dirty="0"/>
              <a:t>lượng</a:t>
            </a:r>
            <a:r>
              <a:rPr spc="-40" dirty="0"/>
              <a:t> </a:t>
            </a:r>
            <a:r>
              <a:rPr spc="-30" dirty="0"/>
              <a:t>dữ</a:t>
            </a:r>
            <a:r>
              <a:rPr spc="-40" dirty="0"/>
              <a:t> </a:t>
            </a:r>
            <a:r>
              <a:rPr spc="-10" dirty="0"/>
              <a:t>liệu.</a:t>
            </a:r>
          </a:p>
          <a:p>
            <a:pPr marL="290830" indent="-139700">
              <a:lnSpc>
                <a:spcPct val="100000"/>
              </a:lnSpc>
              <a:spcBef>
                <a:spcPts val="335"/>
              </a:spcBef>
              <a:buClr>
                <a:srgbClr val="3333B2"/>
              </a:buClr>
              <a:buChar char="–"/>
              <a:tabLst>
                <a:tab pos="290830" algn="l"/>
              </a:tabLst>
            </a:pPr>
            <a:r>
              <a:rPr dirty="0"/>
              <a:t>Lưu</a:t>
            </a:r>
            <a:r>
              <a:rPr spc="-50" dirty="0"/>
              <a:t> </a:t>
            </a:r>
            <a:r>
              <a:rPr dirty="0"/>
              <a:t>trữ</a:t>
            </a:r>
            <a:r>
              <a:rPr spc="-40" dirty="0"/>
              <a:t> </a:t>
            </a:r>
            <a:r>
              <a:rPr spc="-30" dirty="0"/>
              <a:t>dữ</a:t>
            </a:r>
            <a:r>
              <a:rPr spc="-45" dirty="0"/>
              <a:t> </a:t>
            </a:r>
            <a:r>
              <a:rPr spc="-20" dirty="0"/>
              <a:t>liệu</a:t>
            </a:r>
            <a:r>
              <a:rPr spc="-50" dirty="0"/>
              <a:t> </a:t>
            </a:r>
            <a:r>
              <a:rPr dirty="0"/>
              <a:t>lịch</a:t>
            </a:r>
            <a:r>
              <a:rPr spc="-45" dirty="0"/>
              <a:t> sử, </a:t>
            </a:r>
            <a:r>
              <a:rPr spc="-35" dirty="0"/>
              <a:t>duy</a:t>
            </a:r>
            <a:r>
              <a:rPr spc="-45" dirty="0"/>
              <a:t> </a:t>
            </a:r>
            <a:r>
              <a:rPr dirty="0"/>
              <a:t>trì</a:t>
            </a:r>
            <a:r>
              <a:rPr spc="-45" dirty="0"/>
              <a:t> </a:t>
            </a:r>
            <a:r>
              <a:rPr spc="-10" dirty="0"/>
              <a:t>các</a:t>
            </a:r>
            <a:r>
              <a:rPr spc="-45" dirty="0"/>
              <a:t> </a:t>
            </a:r>
            <a:r>
              <a:rPr spc="-35" dirty="0"/>
              <a:t>phiên</a:t>
            </a:r>
            <a:r>
              <a:rPr spc="-40" dirty="0"/>
              <a:t> bản</a:t>
            </a:r>
            <a:r>
              <a:rPr spc="-45" dirty="0"/>
              <a:t> </a:t>
            </a:r>
            <a:r>
              <a:rPr spc="-10" dirty="0"/>
              <a:t>(restatement).</a:t>
            </a:r>
          </a:p>
          <a:p>
            <a:pPr marL="290830" indent="-139700">
              <a:lnSpc>
                <a:spcPct val="100000"/>
              </a:lnSpc>
              <a:spcBef>
                <a:spcPts val="334"/>
              </a:spcBef>
              <a:buClr>
                <a:srgbClr val="3333B2"/>
              </a:buClr>
              <a:buChar char="–"/>
              <a:tabLst>
                <a:tab pos="290830" algn="l"/>
              </a:tabLst>
            </a:pPr>
            <a:r>
              <a:rPr dirty="0"/>
              <a:t>Khai</a:t>
            </a:r>
            <a:r>
              <a:rPr spc="-50" dirty="0"/>
              <a:t> </a:t>
            </a:r>
            <a:r>
              <a:rPr spc="-30" dirty="0"/>
              <a:t>thác: </a:t>
            </a:r>
            <a:r>
              <a:rPr spc="-50" dirty="0"/>
              <a:t>xem</a:t>
            </a:r>
            <a:r>
              <a:rPr spc="-30" dirty="0"/>
              <a:t> </a:t>
            </a:r>
            <a:r>
              <a:rPr spc="-10" dirty="0"/>
              <a:t>xu</a:t>
            </a:r>
            <a:r>
              <a:rPr spc="-35" dirty="0"/>
              <a:t> </a:t>
            </a:r>
            <a:r>
              <a:rPr spc="-65" dirty="0"/>
              <a:t>hướng,</a:t>
            </a:r>
            <a:r>
              <a:rPr spc="-20" dirty="0"/>
              <a:t> </a:t>
            </a:r>
            <a:r>
              <a:rPr spc="-30" dirty="0"/>
              <a:t>so</a:t>
            </a:r>
            <a:r>
              <a:rPr spc="-35" dirty="0"/>
              <a:t> </a:t>
            </a:r>
            <a:r>
              <a:rPr spc="-55" dirty="0"/>
              <a:t>sánh</a:t>
            </a:r>
            <a:r>
              <a:rPr spc="-35" dirty="0"/>
              <a:t> </a:t>
            </a:r>
            <a:r>
              <a:rPr spc="-55" dirty="0"/>
              <a:t>doanh</a:t>
            </a:r>
            <a:r>
              <a:rPr spc="-30" dirty="0"/>
              <a:t> </a:t>
            </a:r>
            <a:r>
              <a:rPr spc="-45" dirty="0"/>
              <a:t>nghiệp</a:t>
            </a:r>
            <a:r>
              <a:rPr spc="-30" dirty="0"/>
              <a:t> </a:t>
            </a:r>
            <a:r>
              <a:rPr spc="-10" dirty="0"/>
              <a:t>và</a:t>
            </a:r>
            <a:r>
              <a:rPr spc="-35" dirty="0"/>
              <a:t> </a:t>
            </a:r>
            <a:r>
              <a:rPr dirty="0"/>
              <a:t>lọc</a:t>
            </a:r>
            <a:r>
              <a:rPr spc="-30" dirty="0"/>
              <a:t> </a:t>
            </a:r>
            <a:r>
              <a:rPr spc="-25" dirty="0"/>
              <a:t>theo</a:t>
            </a:r>
            <a:r>
              <a:rPr spc="-35" dirty="0"/>
              <a:t> </a:t>
            </a:r>
            <a:r>
              <a:rPr spc="-45" dirty="0"/>
              <a:t>điều</a:t>
            </a:r>
            <a:r>
              <a:rPr spc="-30" dirty="0"/>
              <a:t> </a:t>
            </a:r>
            <a:r>
              <a:rPr spc="-10" dirty="0"/>
              <a:t>kiện.</a:t>
            </a:r>
          </a:p>
          <a:p>
            <a:pPr marL="290830" indent="-139700">
              <a:lnSpc>
                <a:spcPct val="100000"/>
              </a:lnSpc>
              <a:spcBef>
                <a:spcPts val="330"/>
              </a:spcBef>
              <a:buClr>
                <a:srgbClr val="3333B2"/>
              </a:buClr>
              <a:buChar char="–"/>
              <a:tabLst>
                <a:tab pos="290830" algn="l"/>
              </a:tabLst>
            </a:pPr>
            <a:r>
              <a:rPr spc="-20" dirty="0"/>
              <a:t>Cung</a:t>
            </a:r>
            <a:r>
              <a:rPr spc="-65" dirty="0"/>
              <a:t> </a:t>
            </a:r>
            <a:r>
              <a:rPr spc="-20" dirty="0"/>
              <a:t>cấp</a:t>
            </a:r>
            <a:r>
              <a:rPr spc="-45" dirty="0"/>
              <a:t> </a:t>
            </a:r>
            <a:r>
              <a:rPr spc="-30" dirty="0"/>
              <a:t>dữ</a:t>
            </a:r>
            <a:r>
              <a:rPr spc="-50" dirty="0"/>
              <a:t> </a:t>
            </a:r>
            <a:r>
              <a:rPr spc="-20" dirty="0"/>
              <a:t>liệu</a:t>
            </a:r>
            <a:r>
              <a:rPr spc="-55" dirty="0"/>
              <a:t> </a:t>
            </a:r>
            <a:r>
              <a:rPr spc="-40" dirty="0"/>
              <a:t>qua</a:t>
            </a:r>
            <a:r>
              <a:rPr spc="-45" dirty="0"/>
              <a:t> </a:t>
            </a:r>
            <a:r>
              <a:rPr spc="-30" dirty="0"/>
              <a:t>giao</a:t>
            </a:r>
            <a:r>
              <a:rPr spc="-55" dirty="0"/>
              <a:t> </a:t>
            </a:r>
            <a:r>
              <a:rPr spc="-40" dirty="0"/>
              <a:t>diện</a:t>
            </a:r>
            <a:r>
              <a:rPr spc="-45" dirty="0"/>
              <a:t> </a:t>
            </a:r>
            <a:r>
              <a:rPr spc="-20" dirty="0"/>
              <a:t>Web</a:t>
            </a:r>
            <a:r>
              <a:rPr spc="-50" dirty="0"/>
              <a:t> </a:t>
            </a:r>
            <a:r>
              <a:rPr spc="-10" dirty="0"/>
              <a:t>và</a:t>
            </a:r>
            <a:r>
              <a:rPr spc="-50" dirty="0"/>
              <a:t> </a:t>
            </a:r>
            <a:r>
              <a:rPr spc="-20" dirty="0"/>
              <a:t>API.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3.</a:t>
            </a:r>
            <a:r>
              <a:rPr spc="105" dirty="0"/>
              <a:t> </a:t>
            </a:r>
            <a:r>
              <a:rPr dirty="0"/>
              <a:t>Đối</a:t>
            </a:r>
            <a:r>
              <a:rPr spc="110" dirty="0"/>
              <a:t> </a:t>
            </a:r>
            <a:r>
              <a:rPr spc="-10" dirty="0"/>
              <a:t>tượng</a:t>
            </a:r>
            <a:r>
              <a:rPr spc="105" dirty="0"/>
              <a:t> </a:t>
            </a:r>
            <a:r>
              <a:rPr dirty="0"/>
              <a:t>sử</a:t>
            </a:r>
            <a:r>
              <a:rPr spc="110" dirty="0"/>
              <a:t> </a:t>
            </a:r>
            <a:r>
              <a:rPr spc="-20" dirty="0"/>
              <a:t>dụng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67297" y="443684"/>
            <a:ext cx="5213985" cy="138176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100" dirty="0">
                <a:latin typeface="Tahoma"/>
                <a:cs typeface="Tahoma"/>
              </a:rPr>
              <a:t>Hệ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thống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hướng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tới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ba</a:t>
            </a:r>
            <a:r>
              <a:rPr sz="1100" spc="-45" dirty="0">
                <a:latin typeface="Tahoma"/>
                <a:cs typeface="Tahoma"/>
              </a:rPr>
              <a:t> nhóm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đối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tượng </a:t>
            </a:r>
            <a:r>
              <a:rPr sz="1100" spc="-10" dirty="0">
                <a:latin typeface="Tahoma"/>
                <a:cs typeface="Tahoma"/>
              </a:rPr>
              <a:t>chính:</a:t>
            </a:r>
            <a:endParaRPr sz="1100">
              <a:latin typeface="Tahoma"/>
              <a:cs typeface="Tahoma"/>
            </a:endParaRPr>
          </a:p>
          <a:p>
            <a:pPr marL="289560" marR="5080" indent="-177165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Font typeface="Tahoma"/>
              <a:buAutoNum type="arabicPeriod"/>
              <a:tabLst>
                <a:tab pos="289560" algn="l"/>
              </a:tabLst>
            </a:pPr>
            <a:r>
              <a:rPr sz="1100" b="1" spc="-20" dirty="0">
                <a:latin typeface="Arial"/>
                <a:cs typeface="Arial"/>
              </a:rPr>
              <a:t>End</a:t>
            </a:r>
            <a:r>
              <a:rPr sz="1100" b="1" spc="-50" dirty="0">
                <a:latin typeface="Arial"/>
                <a:cs typeface="Arial"/>
              </a:rPr>
              <a:t> </a:t>
            </a:r>
            <a:r>
              <a:rPr sz="1100" b="1" spc="-20" dirty="0">
                <a:latin typeface="Arial"/>
                <a:cs typeface="Arial"/>
              </a:rPr>
              <a:t>User</a:t>
            </a:r>
            <a:r>
              <a:rPr sz="1100" b="1" spc="15" dirty="0">
                <a:latin typeface="Arial"/>
                <a:cs typeface="Arial"/>
              </a:rPr>
              <a:t> </a:t>
            </a:r>
            <a:r>
              <a:rPr sz="1100" b="1" spc="-30" dirty="0">
                <a:latin typeface="Arial"/>
                <a:cs typeface="Arial"/>
              </a:rPr>
              <a:t>(Người</a:t>
            </a:r>
            <a:r>
              <a:rPr sz="1100" b="1" spc="20" dirty="0">
                <a:latin typeface="Arial"/>
                <a:cs typeface="Arial"/>
              </a:rPr>
              <a:t> </a:t>
            </a:r>
            <a:r>
              <a:rPr sz="1100" b="1" spc="-40" dirty="0">
                <a:latin typeface="Arial"/>
                <a:cs typeface="Arial"/>
              </a:rPr>
              <a:t>dùng</a:t>
            </a:r>
            <a:r>
              <a:rPr sz="1100" b="1" spc="20" dirty="0">
                <a:latin typeface="Arial"/>
                <a:cs typeface="Arial"/>
              </a:rPr>
              <a:t> </a:t>
            </a:r>
            <a:r>
              <a:rPr sz="1100" b="1" spc="-20" dirty="0">
                <a:latin typeface="Arial"/>
                <a:cs typeface="Arial"/>
              </a:rPr>
              <a:t>cuối):</a:t>
            </a:r>
            <a:r>
              <a:rPr sz="1100" b="1" spc="-1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Sử</a:t>
            </a:r>
            <a:r>
              <a:rPr sz="1100" spc="-50" dirty="0">
                <a:latin typeface="Tahoma"/>
                <a:cs typeface="Tahoma"/>
              </a:rPr>
              <a:t> dụng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giao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diện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80" dirty="0">
                <a:latin typeface="Tahoma"/>
                <a:cs typeface="Tahoma"/>
              </a:rPr>
              <a:t>web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để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tìm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kiếm,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tra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cứu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và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xem thông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tin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tài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chính</a:t>
            </a:r>
            <a:r>
              <a:rPr sz="1100" spc="-30" dirty="0">
                <a:latin typeface="Tahoma"/>
                <a:cs typeface="Tahoma"/>
              </a:rPr>
              <a:t> của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doanh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nghiệp.</a:t>
            </a:r>
            <a:endParaRPr sz="1100">
              <a:latin typeface="Tahoma"/>
              <a:cs typeface="Tahoma"/>
            </a:endParaRPr>
          </a:p>
          <a:p>
            <a:pPr marL="289560" marR="43815" indent="-177165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Font typeface="Tahoma"/>
              <a:buAutoNum type="arabicPeriod"/>
              <a:tabLst>
                <a:tab pos="289560" algn="l"/>
              </a:tabLst>
            </a:pPr>
            <a:r>
              <a:rPr sz="1100" b="1" dirty="0">
                <a:latin typeface="Arial"/>
                <a:cs typeface="Arial"/>
              </a:rPr>
              <a:t>API</a:t>
            </a:r>
            <a:r>
              <a:rPr sz="1100" b="1" spc="45" dirty="0">
                <a:latin typeface="Arial"/>
                <a:cs typeface="Arial"/>
              </a:rPr>
              <a:t> </a:t>
            </a:r>
            <a:r>
              <a:rPr sz="1100" b="1" spc="-50" dirty="0">
                <a:latin typeface="Arial"/>
                <a:cs typeface="Arial"/>
              </a:rPr>
              <a:t>Consumer</a:t>
            </a:r>
            <a:r>
              <a:rPr sz="1100" b="1" spc="5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(Bên</a:t>
            </a:r>
            <a:r>
              <a:rPr sz="1100" b="1" spc="5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tiêu</a:t>
            </a:r>
            <a:r>
              <a:rPr sz="1100" b="1" spc="45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thụ</a:t>
            </a:r>
            <a:r>
              <a:rPr sz="1100" b="1" spc="5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API):</a:t>
            </a:r>
            <a:r>
              <a:rPr sz="1100" b="1" spc="15" dirty="0">
                <a:latin typeface="Arial"/>
                <a:cs typeface="Arial"/>
              </a:rPr>
              <a:t> </a:t>
            </a:r>
            <a:r>
              <a:rPr sz="1100" spc="-10" dirty="0">
                <a:latin typeface="Tahoma"/>
                <a:cs typeface="Tahoma"/>
              </a:rPr>
              <a:t>Truy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cập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dữ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liệu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thông </a:t>
            </a:r>
            <a:r>
              <a:rPr sz="1100" spc="-40" dirty="0">
                <a:latin typeface="Tahoma"/>
                <a:cs typeface="Tahoma"/>
              </a:rPr>
              <a:t>qua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API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phục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vụ</a:t>
            </a:r>
            <a:r>
              <a:rPr sz="1100" spc="-25" dirty="0">
                <a:latin typeface="Tahoma"/>
                <a:cs typeface="Tahoma"/>
              </a:rPr>
              <a:t> các </a:t>
            </a:r>
            <a:r>
              <a:rPr sz="1100" spc="-20" dirty="0">
                <a:latin typeface="Tahoma"/>
                <a:cs typeface="Tahoma"/>
              </a:rPr>
              <a:t>mục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đích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xử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lý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hoặc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tích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hợp</a:t>
            </a:r>
            <a:r>
              <a:rPr sz="1100" spc="-35" dirty="0">
                <a:latin typeface="Tahoma"/>
                <a:cs typeface="Tahoma"/>
              </a:rPr>
              <a:t> vào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hệ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thống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khác.</a:t>
            </a:r>
            <a:endParaRPr sz="1100">
              <a:latin typeface="Tahoma"/>
              <a:cs typeface="Tahoma"/>
            </a:endParaRPr>
          </a:p>
          <a:p>
            <a:pPr marL="289560" marR="48260" indent="-177165">
              <a:lnSpc>
                <a:spcPct val="102699"/>
              </a:lnSpc>
              <a:spcBef>
                <a:spcPts val="295"/>
              </a:spcBef>
              <a:buClr>
                <a:srgbClr val="3333B2"/>
              </a:buClr>
              <a:buFont typeface="Tahoma"/>
              <a:buAutoNum type="arabicPeriod"/>
              <a:tabLst>
                <a:tab pos="289560" algn="l"/>
              </a:tabLst>
            </a:pPr>
            <a:r>
              <a:rPr sz="1100" b="1" spc="-40" dirty="0">
                <a:latin typeface="Arial"/>
                <a:cs typeface="Arial"/>
              </a:rPr>
              <a:t>System</a:t>
            </a:r>
            <a:r>
              <a:rPr sz="1100" b="1" spc="-10" dirty="0">
                <a:latin typeface="Arial"/>
                <a:cs typeface="Arial"/>
              </a:rPr>
              <a:t> </a:t>
            </a:r>
            <a:r>
              <a:rPr sz="1100" b="1" spc="-20" dirty="0">
                <a:latin typeface="Arial"/>
                <a:cs typeface="Arial"/>
              </a:rPr>
              <a:t>Operator</a:t>
            </a:r>
            <a:r>
              <a:rPr sz="1100" b="1" spc="20" dirty="0">
                <a:latin typeface="Arial"/>
                <a:cs typeface="Arial"/>
              </a:rPr>
              <a:t> </a:t>
            </a:r>
            <a:r>
              <a:rPr sz="1100" b="1" spc="-30" dirty="0">
                <a:latin typeface="Arial"/>
                <a:cs typeface="Arial"/>
              </a:rPr>
              <a:t>(Người</a:t>
            </a:r>
            <a:r>
              <a:rPr sz="1100" b="1" spc="15" dirty="0">
                <a:latin typeface="Arial"/>
                <a:cs typeface="Arial"/>
              </a:rPr>
              <a:t> </a:t>
            </a:r>
            <a:r>
              <a:rPr sz="1100" b="1" spc="-20" dirty="0">
                <a:latin typeface="Arial"/>
                <a:cs typeface="Arial"/>
              </a:rPr>
              <a:t>vận</a:t>
            </a:r>
            <a:r>
              <a:rPr sz="1100" b="1" spc="20" dirty="0">
                <a:latin typeface="Arial"/>
                <a:cs typeface="Arial"/>
              </a:rPr>
              <a:t> </a:t>
            </a:r>
            <a:r>
              <a:rPr sz="1100" b="1" spc="-20" dirty="0">
                <a:latin typeface="Arial"/>
                <a:cs typeface="Arial"/>
              </a:rPr>
              <a:t>hành):</a:t>
            </a:r>
            <a:r>
              <a:rPr sz="1100" b="1" spc="-1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Phụ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trách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vận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hành,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theo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dõi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quá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trình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thu </a:t>
            </a:r>
            <a:r>
              <a:rPr sz="1100" spc="-10" dirty="0">
                <a:latin typeface="Tahoma"/>
                <a:cs typeface="Tahoma"/>
              </a:rPr>
              <a:t>thập/xử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lý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dữ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liệu,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kiểm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tra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log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và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kiểm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soát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hệ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thống.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188986" y="1047418"/>
            <a:ext cx="3202940" cy="72136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25"/>
              </a:spcBef>
            </a:pPr>
            <a:r>
              <a:rPr sz="2450" b="1" dirty="0">
                <a:solidFill>
                  <a:srgbClr val="000000"/>
                </a:solidFill>
                <a:latin typeface="Arial"/>
                <a:cs typeface="Arial"/>
              </a:rPr>
              <a:t>Phần</a:t>
            </a:r>
            <a:r>
              <a:rPr sz="2450" b="1" spc="45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450" b="1" spc="150" dirty="0">
                <a:solidFill>
                  <a:srgbClr val="000000"/>
                </a:solidFill>
                <a:latin typeface="Arial"/>
                <a:cs typeface="Arial"/>
              </a:rPr>
              <a:t>II</a:t>
            </a:r>
            <a:endParaRPr sz="245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2050" b="1" dirty="0">
                <a:solidFill>
                  <a:srgbClr val="000000"/>
                </a:solidFill>
                <a:latin typeface="Arial"/>
                <a:cs typeface="Arial"/>
              </a:rPr>
              <a:t>Phân</a:t>
            </a:r>
            <a:r>
              <a:rPr sz="2050" b="1" spc="15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050" b="1" dirty="0">
                <a:solidFill>
                  <a:srgbClr val="000000"/>
                </a:solidFill>
                <a:latin typeface="Arial"/>
                <a:cs typeface="Arial"/>
              </a:rPr>
              <a:t>tích</a:t>
            </a:r>
            <a:r>
              <a:rPr sz="2050" b="1" spc="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050" b="1" dirty="0">
                <a:solidFill>
                  <a:srgbClr val="000000"/>
                </a:solidFill>
                <a:latin typeface="Arial"/>
                <a:cs typeface="Arial"/>
              </a:rPr>
              <a:t>tập</a:t>
            </a:r>
            <a:r>
              <a:rPr sz="2050" b="1" spc="25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050" b="1" spc="-25" dirty="0">
                <a:solidFill>
                  <a:srgbClr val="000000"/>
                </a:solidFill>
                <a:latin typeface="Arial"/>
                <a:cs typeface="Arial"/>
              </a:rPr>
              <a:t>dữ</a:t>
            </a:r>
            <a:r>
              <a:rPr sz="2050" b="1" spc="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050" b="1" spc="-10" dirty="0">
                <a:solidFill>
                  <a:srgbClr val="000000"/>
                </a:solidFill>
                <a:latin typeface="Arial"/>
                <a:cs typeface="Arial"/>
              </a:rPr>
              <a:t>liệu</a:t>
            </a:r>
            <a:r>
              <a:rPr sz="2050" b="1" spc="25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050" b="1" spc="-25" dirty="0">
                <a:solidFill>
                  <a:srgbClr val="000000"/>
                </a:solidFill>
                <a:latin typeface="Arial"/>
                <a:cs typeface="Arial"/>
              </a:rPr>
              <a:t>SEC</a:t>
            </a:r>
            <a:endParaRPr sz="205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759988" cy="3136498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Phân</a:t>
            </a:r>
            <a:r>
              <a:rPr spc="175" dirty="0"/>
              <a:t> </a:t>
            </a:r>
            <a:r>
              <a:rPr dirty="0"/>
              <a:t>tích</a:t>
            </a:r>
            <a:r>
              <a:rPr spc="175" dirty="0"/>
              <a:t> </a:t>
            </a:r>
            <a:r>
              <a:rPr dirty="0"/>
              <a:t>file</a:t>
            </a:r>
            <a:r>
              <a:rPr spc="175" dirty="0"/>
              <a:t> </a:t>
            </a:r>
            <a:r>
              <a:rPr dirty="0"/>
              <a:t>sub.txt</a:t>
            </a:r>
            <a:r>
              <a:rPr spc="175" dirty="0"/>
              <a:t> </a:t>
            </a:r>
            <a:r>
              <a:rPr dirty="0"/>
              <a:t>và</a:t>
            </a:r>
            <a:r>
              <a:rPr spc="180" dirty="0"/>
              <a:t> </a:t>
            </a:r>
            <a:r>
              <a:rPr spc="-10" dirty="0"/>
              <a:t>num.txt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36918" y="516376"/>
            <a:ext cx="2516505" cy="1374140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55"/>
              </a:spcBef>
            </a:pP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sub.txt</a:t>
            </a:r>
            <a:r>
              <a:rPr sz="1200" spc="120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(Thông</a:t>
            </a:r>
            <a:r>
              <a:rPr sz="1200" spc="125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tin</a:t>
            </a:r>
            <a:r>
              <a:rPr sz="1200" spc="125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báo</a:t>
            </a:r>
            <a:r>
              <a:rPr sz="1200" spc="120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3333B2"/>
                </a:solidFill>
                <a:latin typeface="Calibri"/>
                <a:cs typeface="Calibri"/>
              </a:rPr>
              <a:t>cáo)</a:t>
            </a:r>
            <a:endParaRPr sz="1200">
              <a:latin typeface="Calibri"/>
              <a:cs typeface="Calibri"/>
            </a:endParaRPr>
          </a:p>
          <a:p>
            <a:pPr marL="290830" indent="-139700">
              <a:lnSpc>
                <a:spcPct val="100000"/>
              </a:lnSpc>
              <a:spcBef>
                <a:spcPts val="590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/>
                <a:cs typeface="Arial"/>
              </a:rPr>
              <a:t>CIK:</a:t>
            </a:r>
            <a:r>
              <a:rPr sz="1100" b="1" spc="2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Mã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nhận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diện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công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ty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từ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SEC.</a:t>
            </a:r>
            <a:endParaRPr sz="1100">
              <a:latin typeface="Tahoma"/>
              <a:cs typeface="Tahoma"/>
            </a:endParaRPr>
          </a:p>
          <a:p>
            <a:pPr marL="290830" indent="-139700">
              <a:lnSpc>
                <a:spcPct val="100000"/>
              </a:lnSpc>
              <a:spcBef>
                <a:spcPts val="334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spc="-65" dirty="0">
                <a:latin typeface="Arial"/>
                <a:cs typeface="Arial"/>
              </a:rPr>
              <a:t>adsh:</a:t>
            </a:r>
            <a:r>
              <a:rPr sz="1100" b="1" spc="-1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Khóa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chính,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mã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truy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cập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hồ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sơ.</a:t>
            </a:r>
            <a:endParaRPr sz="1100">
              <a:latin typeface="Tahoma"/>
              <a:cs typeface="Tahoma"/>
            </a:endParaRPr>
          </a:p>
          <a:p>
            <a:pPr marL="290830" indent="-139700">
              <a:lnSpc>
                <a:spcPct val="100000"/>
              </a:lnSpc>
              <a:spcBef>
                <a:spcPts val="330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spc="-60" dirty="0">
                <a:latin typeface="Arial"/>
                <a:cs typeface="Arial"/>
              </a:rPr>
              <a:t>sic:</a:t>
            </a:r>
            <a:r>
              <a:rPr sz="1100" b="1" spc="2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Mã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ngành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nghề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kinh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doanh.</a:t>
            </a:r>
            <a:endParaRPr sz="1100">
              <a:latin typeface="Tahoma"/>
              <a:cs typeface="Tahoma"/>
            </a:endParaRPr>
          </a:p>
          <a:p>
            <a:pPr marL="290830" indent="-139700">
              <a:lnSpc>
                <a:spcPct val="100000"/>
              </a:lnSpc>
              <a:spcBef>
                <a:spcPts val="335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spc="-25" dirty="0">
                <a:latin typeface="Arial"/>
                <a:cs typeface="Arial"/>
              </a:rPr>
              <a:t>form:</a:t>
            </a:r>
            <a:r>
              <a:rPr sz="1100" b="1" spc="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Loại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báo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cáo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(10-</a:t>
            </a:r>
            <a:r>
              <a:rPr sz="1100" dirty="0">
                <a:latin typeface="Tahoma"/>
                <a:cs typeface="Tahoma"/>
              </a:rPr>
              <a:t>K,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10-</a:t>
            </a:r>
            <a:r>
              <a:rPr sz="1100" spc="-25" dirty="0">
                <a:latin typeface="Tahoma"/>
                <a:cs typeface="Tahoma"/>
              </a:rPr>
              <a:t>Q).</a:t>
            </a:r>
            <a:endParaRPr sz="1100">
              <a:latin typeface="Tahoma"/>
              <a:cs typeface="Tahoma"/>
            </a:endParaRPr>
          </a:p>
          <a:p>
            <a:pPr marL="290830" indent="-139700">
              <a:lnSpc>
                <a:spcPct val="100000"/>
              </a:lnSpc>
              <a:spcBef>
                <a:spcPts val="335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/>
                <a:cs typeface="Arial"/>
              </a:rPr>
              <a:t>fy</a:t>
            </a:r>
            <a:r>
              <a:rPr sz="1100" b="1" spc="20" dirty="0">
                <a:latin typeface="Arial"/>
                <a:cs typeface="Arial"/>
              </a:rPr>
              <a:t> </a:t>
            </a:r>
            <a:r>
              <a:rPr sz="1100" b="1" spc="100" dirty="0">
                <a:latin typeface="Arial"/>
                <a:cs typeface="Arial"/>
              </a:rPr>
              <a:t>&amp;</a:t>
            </a:r>
            <a:r>
              <a:rPr sz="1100" b="1" spc="2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fp:</a:t>
            </a:r>
            <a:r>
              <a:rPr sz="1100" b="1" spc="-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Năm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và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kỳ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tài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chính.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92107" y="525634"/>
            <a:ext cx="2411095" cy="1546225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55"/>
              </a:spcBef>
            </a:pP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num.txt</a:t>
            </a:r>
            <a:r>
              <a:rPr sz="1200" spc="60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(Dữ</a:t>
            </a:r>
            <a:r>
              <a:rPr sz="1200" spc="60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liệu</a:t>
            </a:r>
            <a:r>
              <a:rPr sz="1200" spc="60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số</a:t>
            </a:r>
            <a:r>
              <a:rPr sz="1200" spc="65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3333B2"/>
                </a:solidFill>
                <a:latin typeface="Calibri"/>
                <a:cs typeface="Calibri"/>
              </a:rPr>
              <a:t>liệu)</a:t>
            </a:r>
            <a:endParaRPr sz="1200">
              <a:latin typeface="Calibri"/>
              <a:cs typeface="Calibri"/>
            </a:endParaRPr>
          </a:p>
          <a:p>
            <a:pPr marL="290830" indent="-139700">
              <a:lnSpc>
                <a:spcPct val="100000"/>
              </a:lnSpc>
              <a:spcBef>
                <a:spcPts val="590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spc="-65" dirty="0">
                <a:latin typeface="Arial"/>
                <a:cs typeface="Arial"/>
              </a:rPr>
              <a:t>adsh:</a:t>
            </a:r>
            <a:r>
              <a:rPr sz="1100" b="1" spc="-1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Khóa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ngoại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liên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kết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sub.txt.</a:t>
            </a:r>
            <a:endParaRPr sz="1100">
              <a:latin typeface="Tahoma"/>
              <a:cs typeface="Tahoma"/>
            </a:endParaRPr>
          </a:p>
          <a:p>
            <a:pPr marL="290830" indent="-139700">
              <a:lnSpc>
                <a:spcPct val="100000"/>
              </a:lnSpc>
              <a:spcBef>
                <a:spcPts val="334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/>
                <a:cs typeface="Arial"/>
              </a:rPr>
              <a:t>tag:</a:t>
            </a:r>
            <a:r>
              <a:rPr sz="1100" b="1" spc="-35" dirty="0">
                <a:latin typeface="Arial"/>
                <a:cs typeface="Arial"/>
              </a:rPr>
              <a:t> </a:t>
            </a:r>
            <a:r>
              <a:rPr sz="1100" spc="-20" dirty="0">
                <a:latin typeface="Tahoma"/>
                <a:cs typeface="Tahoma"/>
              </a:rPr>
              <a:t>Tên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chỉ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số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(NetIncomeLoss,...).</a:t>
            </a:r>
            <a:endParaRPr sz="1100">
              <a:latin typeface="Tahoma"/>
              <a:cs typeface="Tahoma"/>
            </a:endParaRPr>
          </a:p>
          <a:p>
            <a:pPr marL="290830" indent="-139700">
              <a:lnSpc>
                <a:spcPct val="100000"/>
              </a:lnSpc>
              <a:spcBef>
                <a:spcPts val="330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spc="-25" dirty="0">
                <a:latin typeface="Arial"/>
                <a:cs typeface="Arial"/>
              </a:rPr>
              <a:t>ddate:</a:t>
            </a:r>
            <a:r>
              <a:rPr sz="1100" b="1" spc="-1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Ngày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chốt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sổ.</a:t>
            </a:r>
            <a:endParaRPr sz="1100">
              <a:latin typeface="Tahoma"/>
              <a:cs typeface="Tahoma"/>
            </a:endParaRPr>
          </a:p>
          <a:p>
            <a:pPr marL="289560" marR="51435" indent="-139065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Font typeface="Tahoma"/>
              <a:buChar char="–"/>
              <a:tabLst>
                <a:tab pos="289560" algn="l"/>
              </a:tabLst>
            </a:pPr>
            <a:r>
              <a:rPr sz="1100" b="1" spc="-25" dirty="0">
                <a:latin typeface="Arial"/>
                <a:cs typeface="Arial"/>
              </a:rPr>
              <a:t>qtrs:</a:t>
            </a:r>
            <a:r>
              <a:rPr sz="1100" b="1" spc="-1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Thời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gian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phát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sinh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(0: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1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thời </a:t>
            </a:r>
            <a:r>
              <a:rPr sz="1100" spc="-50" dirty="0">
                <a:latin typeface="Tahoma"/>
                <a:cs typeface="Tahoma"/>
              </a:rPr>
              <a:t>điểm,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1: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1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quý,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4: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1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năm).</a:t>
            </a:r>
            <a:endParaRPr sz="1100">
              <a:latin typeface="Tahoma"/>
              <a:cs typeface="Tahoma"/>
            </a:endParaRPr>
          </a:p>
          <a:p>
            <a:pPr marL="290830" indent="-139700">
              <a:lnSpc>
                <a:spcPct val="100000"/>
              </a:lnSpc>
              <a:spcBef>
                <a:spcPts val="335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spc="-40" dirty="0">
                <a:latin typeface="Arial"/>
                <a:cs typeface="Arial"/>
              </a:rPr>
              <a:t>value:</a:t>
            </a:r>
            <a:r>
              <a:rPr sz="1100" b="1" spc="-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Giá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trị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thực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tế.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759988" cy="3136498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Phân</a:t>
            </a:r>
            <a:r>
              <a:rPr spc="195" dirty="0"/>
              <a:t> </a:t>
            </a:r>
            <a:r>
              <a:rPr dirty="0"/>
              <a:t>tích</a:t>
            </a:r>
            <a:r>
              <a:rPr spc="200" dirty="0"/>
              <a:t> </a:t>
            </a:r>
            <a:r>
              <a:rPr dirty="0"/>
              <a:t>file</a:t>
            </a:r>
            <a:r>
              <a:rPr spc="195" dirty="0"/>
              <a:t> </a:t>
            </a:r>
            <a:r>
              <a:rPr dirty="0"/>
              <a:t>tag.txt</a:t>
            </a:r>
            <a:r>
              <a:rPr spc="200" dirty="0"/>
              <a:t> </a:t>
            </a:r>
            <a:r>
              <a:rPr dirty="0"/>
              <a:t>và</a:t>
            </a:r>
            <a:r>
              <a:rPr spc="195" dirty="0"/>
              <a:t> </a:t>
            </a:r>
            <a:r>
              <a:rPr spc="-10" dirty="0"/>
              <a:t>pre.txt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36918" y="525634"/>
            <a:ext cx="2335530" cy="1680210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55"/>
              </a:spcBef>
            </a:pP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tag.txt</a:t>
            </a:r>
            <a:r>
              <a:rPr sz="1200" spc="125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(Danh</a:t>
            </a:r>
            <a:r>
              <a:rPr sz="1200" spc="130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mục</a:t>
            </a:r>
            <a:r>
              <a:rPr sz="1200" spc="125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tham</a:t>
            </a:r>
            <a:r>
              <a:rPr sz="1200" spc="130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3333B2"/>
                </a:solidFill>
                <a:latin typeface="Calibri"/>
                <a:cs typeface="Calibri"/>
              </a:rPr>
              <a:t>chiếu)</a:t>
            </a:r>
            <a:endParaRPr sz="1200">
              <a:latin typeface="Calibri"/>
              <a:cs typeface="Calibri"/>
            </a:endParaRPr>
          </a:p>
          <a:p>
            <a:pPr marL="290830" indent="-139700">
              <a:lnSpc>
                <a:spcPct val="100000"/>
              </a:lnSpc>
              <a:spcBef>
                <a:spcPts val="590"/>
              </a:spcBef>
              <a:buClr>
                <a:srgbClr val="3333B2"/>
              </a:buClr>
              <a:buChar char="–"/>
              <a:tabLst>
                <a:tab pos="290830" algn="l"/>
              </a:tabLst>
            </a:pPr>
            <a:r>
              <a:rPr sz="1100" dirty="0">
                <a:latin typeface="Tahoma"/>
                <a:cs typeface="Tahoma"/>
              </a:rPr>
              <a:t>Định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nghĩa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cấu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trúc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cho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chỉ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số.</a:t>
            </a:r>
            <a:endParaRPr sz="1100">
              <a:latin typeface="Tahoma"/>
              <a:cs typeface="Tahoma"/>
            </a:endParaRPr>
          </a:p>
          <a:p>
            <a:pPr marL="289560" marR="31750" indent="-139065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Font typeface="Tahoma"/>
              <a:buChar char="–"/>
              <a:tabLst>
                <a:tab pos="289560" algn="l"/>
              </a:tabLst>
            </a:pPr>
            <a:r>
              <a:rPr sz="1100" b="1" spc="-20" dirty="0">
                <a:latin typeface="Arial"/>
                <a:cs typeface="Arial"/>
              </a:rPr>
              <a:t>datatype:</a:t>
            </a:r>
            <a:r>
              <a:rPr sz="1100" b="1" spc="-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Kiểu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dữ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liệu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(monetary, </a:t>
            </a:r>
            <a:r>
              <a:rPr sz="1100" spc="-70" dirty="0">
                <a:latin typeface="Tahoma"/>
                <a:cs typeface="Tahoma"/>
              </a:rPr>
              <a:t>shares,</a:t>
            </a:r>
            <a:r>
              <a:rPr sz="1100" spc="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pure).</a:t>
            </a:r>
            <a:endParaRPr sz="1100">
              <a:latin typeface="Tahoma"/>
              <a:cs typeface="Tahoma"/>
            </a:endParaRPr>
          </a:p>
          <a:p>
            <a:pPr marL="289560" marR="509270" indent="-139065">
              <a:lnSpc>
                <a:spcPct val="102699"/>
              </a:lnSpc>
              <a:spcBef>
                <a:spcPts val="295"/>
              </a:spcBef>
              <a:buClr>
                <a:srgbClr val="3333B2"/>
              </a:buClr>
              <a:buFont typeface="Tahoma"/>
              <a:buChar char="–"/>
              <a:tabLst>
                <a:tab pos="289560" algn="l"/>
              </a:tabLst>
            </a:pPr>
            <a:r>
              <a:rPr sz="1100" b="1" spc="-30" dirty="0">
                <a:latin typeface="Arial"/>
                <a:cs typeface="Arial"/>
              </a:rPr>
              <a:t>crdr:</a:t>
            </a:r>
            <a:r>
              <a:rPr sz="1100" b="1" spc="-1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Cờ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quy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đổi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dấu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35" dirty="0">
                <a:latin typeface="Tahoma"/>
                <a:cs typeface="Tahoma"/>
              </a:rPr>
              <a:t>C/D </a:t>
            </a:r>
            <a:r>
              <a:rPr sz="1100" spc="-10" dirty="0">
                <a:latin typeface="Tahoma"/>
                <a:cs typeface="Tahoma"/>
              </a:rPr>
              <a:t>(Credit/Debit).</a:t>
            </a:r>
            <a:endParaRPr sz="1100">
              <a:latin typeface="Tahoma"/>
              <a:cs typeface="Tahoma"/>
            </a:endParaRPr>
          </a:p>
          <a:p>
            <a:pPr marL="289560" marR="5080" indent="-139065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Font typeface="Tahoma"/>
              <a:buChar char="–"/>
              <a:tabLst>
                <a:tab pos="289560" algn="l"/>
              </a:tabLst>
            </a:pPr>
            <a:r>
              <a:rPr sz="1100" b="1" dirty="0">
                <a:latin typeface="Arial"/>
                <a:cs typeface="Arial"/>
              </a:rPr>
              <a:t>tlabel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100" dirty="0">
                <a:latin typeface="Arial"/>
                <a:cs typeface="Arial"/>
              </a:rPr>
              <a:t>&amp;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45" dirty="0">
                <a:latin typeface="Arial"/>
                <a:cs typeface="Arial"/>
              </a:rPr>
              <a:t>doc:</a:t>
            </a:r>
            <a:r>
              <a:rPr sz="1100" b="1" dirty="0">
                <a:latin typeface="Arial"/>
                <a:cs typeface="Arial"/>
              </a:rPr>
              <a:t> </a:t>
            </a:r>
            <a:r>
              <a:rPr sz="1100" spc="-20" dirty="0">
                <a:latin typeface="Tahoma"/>
                <a:cs typeface="Tahoma"/>
              </a:rPr>
              <a:t>Nhãn</a:t>
            </a:r>
            <a:r>
              <a:rPr sz="1100" spc="-40" dirty="0">
                <a:latin typeface="Tahoma"/>
                <a:cs typeface="Tahoma"/>
              </a:rPr>
              <a:t> hiển </a:t>
            </a:r>
            <a:r>
              <a:rPr sz="1100" dirty="0">
                <a:latin typeface="Tahoma"/>
                <a:cs typeface="Tahoma"/>
              </a:rPr>
              <a:t>thị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UI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và </a:t>
            </a:r>
            <a:r>
              <a:rPr sz="1100" spc="-20" dirty="0">
                <a:latin typeface="Tahoma"/>
                <a:cs typeface="Tahoma"/>
              </a:rPr>
              <a:t>mô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tả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nghiệp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vụ.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92107" y="525634"/>
            <a:ext cx="2530475" cy="1718310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55"/>
              </a:spcBef>
            </a:pP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pre.txt</a:t>
            </a:r>
            <a:r>
              <a:rPr sz="1200" spc="105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(Cấu</a:t>
            </a:r>
            <a:r>
              <a:rPr sz="1200" spc="114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trúc</a:t>
            </a:r>
            <a:r>
              <a:rPr sz="1200" spc="110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3333B2"/>
                </a:solidFill>
                <a:latin typeface="Calibri"/>
                <a:cs typeface="Calibri"/>
              </a:rPr>
              <a:t>trình</a:t>
            </a:r>
            <a:r>
              <a:rPr sz="1200" spc="114" dirty="0">
                <a:solidFill>
                  <a:srgbClr val="3333B2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3333B2"/>
                </a:solidFill>
                <a:latin typeface="Calibri"/>
                <a:cs typeface="Calibri"/>
              </a:rPr>
              <a:t>bày)</a:t>
            </a:r>
            <a:endParaRPr sz="1200">
              <a:latin typeface="Calibri"/>
              <a:cs typeface="Calibri"/>
            </a:endParaRPr>
          </a:p>
          <a:p>
            <a:pPr marL="290830" indent="-139700">
              <a:lnSpc>
                <a:spcPct val="100000"/>
              </a:lnSpc>
              <a:spcBef>
                <a:spcPts val="590"/>
              </a:spcBef>
              <a:buClr>
                <a:srgbClr val="3333B2"/>
              </a:buClr>
              <a:buChar char="–"/>
              <a:tabLst>
                <a:tab pos="290830" algn="l"/>
              </a:tabLst>
            </a:pPr>
            <a:r>
              <a:rPr sz="1100" dirty="0">
                <a:latin typeface="Tahoma"/>
                <a:cs typeface="Tahoma"/>
              </a:rPr>
              <a:t>Hỗ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trợ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tái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tạo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giao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diện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gốc.</a:t>
            </a:r>
            <a:endParaRPr sz="1100">
              <a:latin typeface="Tahoma"/>
              <a:cs typeface="Tahoma"/>
            </a:endParaRPr>
          </a:p>
          <a:p>
            <a:pPr marL="290830" indent="-139700">
              <a:lnSpc>
                <a:spcPct val="100000"/>
              </a:lnSpc>
              <a:spcBef>
                <a:spcPts val="334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/>
                <a:cs typeface="Arial"/>
              </a:rPr>
              <a:t>stmt:</a:t>
            </a:r>
            <a:r>
              <a:rPr sz="1100" b="1" spc="-2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Bảng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chứa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số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liệu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(BS,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IS,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CF).</a:t>
            </a:r>
            <a:endParaRPr sz="1100">
              <a:latin typeface="Tahoma"/>
              <a:cs typeface="Tahoma"/>
            </a:endParaRPr>
          </a:p>
          <a:p>
            <a:pPr marL="290830" indent="-139700">
              <a:lnSpc>
                <a:spcPct val="100000"/>
              </a:lnSpc>
              <a:spcBef>
                <a:spcPts val="330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spc="-25" dirty="0">
                <a:latin typeface="Arial"/>
                <a:cs typeface="Arial"/>
              </a:rPr>
              <a:t>line:</a:t>
            </a:r>
            <a:r>
              <a:rPr sz="1100" b="1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Thứ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tự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dòng.</a:t>
            </a:r>
            <a:endParaRPr sz="1100">
              <a:latin typeface="Tahoma"/>
              <a:cs typeface="Tahoma"/>
            </a:endParaRPr>
          </a:p>
          <a:p>
            <a:pPr marL="289560" marR="281305" indent="-139065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Font typeface="Tahoma"/>
              <a:buChar char="–"/>
              <a:tabLst>
                <a:tab pos="289560" algn="l"/>
              </a:tabLst>
            </a:pPr>
            <a:r>
              <a:rPr sz="1100" b="1" spc="-20" dirty="0">
                <a:latin typeface="Arial"/>
                <a:cs typeface="Arial"/>
              </a:rPr>
              <a:t>inpth:</a:t>
            </a:r>
            <a:r>
              <a:rPr sz="1100" b="1" spc="-1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Độ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thụt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lề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(cấp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bậc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khoản </a:t>
            </a:r>
            <a:r>
              <a:rPr sz="1100" spc="-10" dirty="0">
                <a:latin typeface="Tahoma"/>
                <a:cs typeface="Tahoma"/>
              </a:rPr>
              <a:t>mục).</a:t>
            </a:r>
            <a:endParaRPr sz="1100">
              <a:latin typeface="Tahoma"/>
              <a:cs typeface="Tahoma"/>
            </a:endParaRPr>
          </a:p>
          <a:p>
            <a:pPr marL="289560" marR="52069" indent="-139065">
              <a:lnSpc>
                <a:spcPct val="102699"/>
              </a:lnSpc>
              <a:spcBef>
                <a:spcPts val="300"/>
              </a:spcBef>
              <a:buClr>
                <a:srgbClr val="3333B2"/>
              </a:buClr>
              <a:buFont typeface="Tahoma"/>
              <a:buChar char="–"/>
              <a:tabLst>
                <a:tab pos="289560" algn="l"/>
              </a:tabLst>
            </a:pPr>
            <a:r>
              <a:rPr sz="1100" b="1" spc="-35" dirty="0">
                <a:latin typeface="Arial"/>
                <a:cs typeface="Arial"/>
              </a:rPr>
              <a:t>negating:</a:t>
            </a:r>
            <a:r>
              <a:rPr sz="1100" b="1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Đổi</a:t>
            </a:r>
            <a:r>
              <a:rPr sz="1100" spc="-40" dirty="0">
                <a:latin typeface="Tahoma"/>
                <a:cs typeface="Tahoma"/>
              </a:rPr>
              <a:t> dấu </a:t>
            </a:r>
            <a:r>
              <a:rPr sz="1100" dirty="0">
                <a:latin typeface="Tahoma"/>
                <a:cs typeface="Tahoma"/>
              </a:rPr>
              <a:t>khi</a:t>
            </a:r>
            <a:r>
              <a:rPr sz="1100" spc="-40" dirty="0">
                <a:latin typeface="Tahoma"/>
                <a:cs typeface="Tahoma"/>
              </a:rPr>
              <a:t> hiển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thị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UI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(1: </a:t>
            </a:r>
            <a:r>
              <a:rPr sz="1100" spc="-10" dirty="0">
                <a:latin typeface="Tahoma"/>
                <a:cs typeface="Tahoma"/>
              </a:rPr>
              <a:t>đổi).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759988" cy="3140998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359712" y="1047418"/>
            <a:ext cx="2860675" cy="72136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25"/>
              </a:spcBef>
            </a:pPr>
            <a:r>
              <a:rPr sz="2450" b="1" dirty="0">
                <a:solidFill>
                  <a:srgbClr val="000000"/>
                </a:solidFill>
                <a:latin typeface="Arial"/>
                <a:cs typeface="Arial"/>
              </a:rPr>
              <a:t>Phần</a:t>
            </a:r>
            <a:r>
              <a:rPr sz="2450" b="1" spc="45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450" b="1" spc="165" dirty="0">
                <a:solidFill>
                  <a:srgbClr val="000000"/>
                </a:solidFill>
                <a:latin typeface="Arial"/>
                <a:cs typeface="Arial"/>
              </a:rPr>
              <a:t>III</a:t>
            </a:r>
            <a:endParaRPr sz="245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2050" b="1" spc="-10" dirty="0">
                <a:solidFill>
                  <a:srgbClr val="000000"/>
                </a:solidFill>
                <a:latin typeface="Arial"/>
                <a:cs typeface="Arial"/>
              </a:rPr>
              <a:t>Nghiên</a:t>
            </a:r>
            <a:r>
              <a:rPr sz="2050" b="1" spc="-5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050" b="1" spc="-60" dirty="0">
                <a:solidFill>
                  <a:srgbClr val="000000"/>
                </a:solidFill>
                <a:latin typeface="Arial"/>
                <a:cs typeface="Arial"/>
              </a:rPr>
              <a:t>cứu</a:t>
            </a:r>
            <a:r>
              <a:rPr sz="2050" b="1" spc="-50" dirty="0">
                <a:solidFill>
                  <a:srgbClr val="000000"/>
                </a:solidFill>
                <a:latin typeface="Arial"/>
                <a:cs typeface="Arial"/>
              </a:rPr>
              <a:t> Case </a:t>
            </a:r>
            <a:r>
              <a:rPr sz="2050" b="1" spc="-10" dirty="0">
                <a:solidFill>
                  <a:srgbClr val="000000"/>
                </a:solidFill>
                <a:latin typeface="Arial"/>
                <a:cs typeface="Arial"/>
              </a:rPr>
              <a:t>Study</a:t>
            </a:r>
            <a:endParaRPr sz="205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60" dirty="0"/>
              <a:t>Các</a:t>
            </a:r>
            <a:r>
              <a:rPr spc="95" dirty="0"/>
              <a:t> </a:t>
            </a:r>
            <a:r>
              <a:rPr dirty="0"/>
              <a:t>nền</a:t>
            </a:r>
            <a:r>
              <a:rPr spc="100" dirty="0"/>
              <a:t> </a:t>
            </a:r>
            <a:r>
              <a:rPr dirty="0"/>
              <a:t>tảng</a:t>
            </a:r>
            <a:r>
              <a:rPr spc="100" dirty="0"/>
              <a:t> </a:t>
            </a:r>
            <a:r>
              <a:rPr dirty="0"/>
              <a:t>dữ</a:t>
            </a:r>
            <a:r>
              <a:rPr spc="95" dirty="0"/>
              <a:t> </a:t>
            </a:r>
            <a:r>
              <a:rPr dirty="0"/>
              <a:t>liệu</a:t>
            </a:r>
            <a:r>
              <a:rPr spc="100" dirty="0"/>
              <a:t> </a:t>
            </a:r>
            <a:r>
              <a:rPr dirty="0"/>
              <a:t>tham</a:t>
            </a:r>
            <a:r>
              <a:rPr spc="100" dirty="0"/>
              <a:t> </a:t>
            </a:r>
            <a:r>
              <a:rPr dirty="0"/>
              <a:t>khảo</a:t>
            </a:r>
            <a:r>
              <a:rPr spc="95" dirty="0"/>
              <a:t> </a:t>
            </a:r>
            <a:r>
              <a:rPr spc="40" dirty="0"/>
              <a:t>(1)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67297" y="443684"/>
            <a:ext cx="5193030" cy="201676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79705" indent="-167005">
              <a:lnSpc>
                <a:spcPct val="100000"/>
              </a:lnSpc>
              <a:spcBef>
                <a:spcPts val="434"/>
              </a:spcBef>
              <a:buFont typeface="Arial"/>
              <a:buAutoNum type="arabicPeriod"/>
              <a:tabLst>
                <a:tab pos="179705" algn="l"/>
              </a:tabLst>
            </a:pPr>
            <a:r>
              <a:rPr sz="1100" b="1" spc="-40" dirty="0">
                <a:latin typeface="Arial"/>
                <a:cs typeface="Arial"/>
              </a:rPr>
              <a:t>Nasdaq</a:t>
            </a:r>
            <a:r>
              <a:rPr sz="1100" b="1" spc="7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Data</a:t>
            </a:r>
            <a:r>
              <a:rPr sz="1100" b="1" spc="75" dirty="0">
                <a:latin typeface="Arial"/>
                <a:cs typeface="Arial"/>
              </a:rPr>
              <a:t> </a:t>
            </a:r>
            <a:r>
              <a:rPr sz="1100" b="1" spc="-10" dirty="0">
                <a:latin typeface="Arial"/>
                <a:cs typeface="Arial"/>
              </a:rPr>
              <a:t>Fabric</a:t>
            </a:r>
            <a:endParaRPr sz="1100" dirty="0">
              <a:latin typeface="Arial"/>
              <a:cs typeface="Arial"/>
            </a:endParaRPr>
          </a:p>
          <a:p>
            <a:pPr marL="290830" lvl="1" indent="-139700">
              <a:lnSpc>
                <a:spcPct val="100000"/>
              </a:lnSpc>
              <a:spcBef>
                <a:spcPts val="334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/>
                <a:cs typeface="Arial"/>
              </a:rPr>
              <a:t>Mô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b="1" spc="-35" dirty="0">
                <a:latin typeface="Arial"/>
                <a:cs typeface="Arial"/>
              </a:rPr>
              <a:t>hình:</a:t>
            </a:r>
            <a:r>
              <a:rPr sz="1100" b="1" spc="15" dirty="0"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"Managed pipeline" </a:t>
            </a:r>
            <a:r>
              <a:rPr sz="1100" dirty="0">
                <a:latin typeface="Tahoma"/>
                <a:cs typeface="Tahoma"/>
              </a:rPr>
              <a:t>-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quản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lý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nạp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dữ </a:t>
            </a:r>
            <a:r>
              <a:rPr sz="1100" spc="-25" dirty="0">
                <a:latin typeface="Tahoma"/>
                <a:cs typeface="Tahoma"/>
              </a:rPr>
              <a:t>liệu, </a:t>
            </a:r>
            <a:r>
              <a:rPr sz="1100" spc="-10" dirty="0">
                <a:latin typeface="Tahoma"/>
                <a:cs typeface="Tahoma"/>
              </a:rPr>
              <a:t>chất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lượng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và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hạ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tầng.</a:t>
            </a:r>
            <a:endParaRPr sz="1100" dirty="0">
              <a:latin typeface="Tahoma"/>
              <a:cs typeface="Tahoma"/>
            </a:endParaRPr>
          </a:p>
          <a:p>
            <a:pPr marL="290830" lvl="1" indent="-139700">
              <a:lnSpc>
                <a:spcPct val="100000"/>
              </a:lnSpc>
              <a:spcBef>
                <a:spcPts val="330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/>
                <a:cs typeface="Arial"/>
              </a:rPr>
              <a:t>Đặc</a:t>
            </a:r>
            <a:r>
              <a:rPr sz="1100" b="1" spc="15" dirty="0">
                <a:latin typeface="Arial"/>
                <a:cs typeface="Arial"/>
              </a:rPr>
              <a:t> </a:t>
            </a:r>
            <a:r>
              <a:rPr sz="1100" b="1" spc="-30" dirty="0">
                <a:latin typeface="Arial"/>
                <a:cs typeface="Arial"/>
              </a:rPr>
              <a:t>điểm:</a:t>
            </a:r>
            <a:r>
              <a:rPr sz="1100" b="1" dirty="0">
                <a:latin typeface="Arial"/>
                <a:cs typeface="Arial"/>
              </a:rPr>
              <a:t> </a:t>
            </a:r>
            <a:r>
              <a:rPr sz="1100" spc="-20" dirty="0">
                <a:latin typeface="Tahoma"/>
                <a:cs typeface="Tahoma"/>
              </a:rPr>
              <a:t>Cung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cấp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catalog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tập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trung,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phân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quyền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chi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tiết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qua </a:t>
            </a:r>
            <a:r>
              <a:rPr sz="1100" dirty="0">
                <a:latin typeface="Tahoma"/>
                <a:cs typeface="Tahoma"/>
              </a:rPr>
              <a:t>một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API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duy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nhất.</a:t>
            </a:r>
            <a:endParaRPr sz="1100" dirty="0">
              <a:latin typeface="Tahoma"/>
              <a:cs typeface="Tahoma"/>
            </a:endParaRPr>
          </a:p>
          <a:p>
            <a:pPr marL="81915">
              <a:lnSpc>
                <a:spcPct val="100000"/>
              </a:lnSpc>
              <a:spcBef>
                <a:spcPts val="335"/>
              </a:spcBef>
            </a:pPr>
            <a:r>
              <a:rPr sz="1100" i="1" dirty="0">
                <a:solidFill>
                  <a:srgbClr val="3333B2"/>
                </a:solidFill>
                <a:latin typeface="Arial"/>
                <a:cs typeface="Arial"/>
              </a:rPr>
              <a:t>→</a:t>
            </a:r>
            <a:r>
              <a:rPr sz="1100" i="1" spc="145" dirty="0">
                <a:solidFill>
                  <a:srgbClr val="3333B2"/>
                </a:solidFill>
                <a:latin typeface="Arial"/>
                <a:cs typeface="Arial"/>
              </a:rPr>
              <a:t> </a:t>
            </a:r>
            <a:r>
              <a:rPr sz="1100" spc="-35" dirty="0">
                <a:latin typeface="Tahoma"/>
                <a:cs typeface="Tahoma"/>
              </a:rPr>
              <a:t>Ứng </a:t>
            </a:r>
            <a:r>
              <a:rPr sz="1100" spc="-45" dirty="0">
                <a:latin typeface="Tahoma"/>
                <a:cs typeface="Tahoma"/>
              </a:rPr>
              <a:t>dụng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catalog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tập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trung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và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phân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quyền</a:t>
            </a:r>
            <a:r>
              <a:rPr sz="1100" spc="-20" dirty="0">
                <a:latin typeface="Tahoma"/>
                <a:cs typeface="Tahoma"/>
              </a:rPr>
              <a:t> cơ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bản.</a:t>
            </a:r>
            <a:endParaRPr sz="11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95"/>
              </a:spcBef>
            </a:pPr>
            <a:endParaRPr sz="1100" dirty="0">
              <a:latin typeface="Tahoma"/>
              <a:cs typeface="Tahoma"/>
            </a:endParaRPr>
          </a:p>
          <a:p>
            <a:pPr marL="179705" indent="-167005">
              <a:lnSpc>
                <a:spcPct val="100000"/>
              </a:lnSpc>
              <a:buAutoNum type="arabicPeriod" startAt="2"/>
              <a:tabLst>
                <a:tab pos="179705" algn="l"/>
              </a:tabLst>
            </a:pPr>
            <a:r>
              <a:rPr sz="1100" b="1" spc="-10" dirty="0">
                <a:latin typeface="Arial"/>
                <a:cs typeface="Arial"/>
              </a:rPr>
              <a:t>Polygon.io</a:t>
            </a:r>
            <a:endParaRPr sz="1100" dirty="0">
              <a:latin typeface="Arial"/>
              <a:cs typeface="Arial"/>
            </a:endParaRPr>
          </a:p>
          <a:p>
            <a:pPr marL="290830" lvl="1" indent="-139700">
              <a:lnSpc>
                <a:spcPct val="100000"/>
              </a:lnSpc>
              <a:spcBef>
                <a:spcPts val="335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/>
                <a:cs typeface="Arial"/>
              </a:rPr>
              <a:t>Dịch</a:t>
            </a:r>
            <a:r>
              <a:rPr sz="1100" b="1" spc="5" dirty="0">
                <a:latin typeface="Arial"/>
                <a:cs typeface="Arial"/>
              </a:rPr>
              <a:t> </a:t>
            </a:r>
            <a:r>
              <a:rPr sz="1100" b="1" spc="-25" dirty="0">
                <a:latin typeface="Arial"/>
                <a:cs typeface="Arial"/>
              </a:rPr>
              <a:t>vụ:</a:t>
            </a:r>
            <a:r>
              <a:rPr sz="1100" b="1" spc="-15" dirty="0">
                <a:latin typeface="Arial"/>
                <a:cs typeface="Arial"/>
              </a:rPr>
              <a:t> </a:t>
            </a:r>
            <a:r>
              <a:rPr sz="1100" spc="-20" dirty="0">
                <a:latin typeface="Tahoma"/>
                <a:cs typeface="Tahoma"/>
              </a:rPr>
              <a:t>Cung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cấp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dữ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liệu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thị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trường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(stock,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crypto,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forex).</a:t>
            </a:r>
            <a:endParaRPr sz="1100" dirty="0">
              <a:latin typeface="Tahoma"/>
              <a:cs typeface="Tahoma"/>
            </a:endParaRPr>
          </a:p>
          <a:p>
            <a:pPr marL="289560" marR="481330" lvl="1" indent="-139065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Font typeface="Tahoma"/>
              <a:buChar char="–"/>
              <a:tabLst>
                <a:tab pos="289560" algn="l"/>
              </a:tabLst>
            </a:pPr>
            <a:r>
              <a:rPr sz="1100" b="1" dirty="0">
                <a:latin typeface="Arial"/>
                <a:cs typeface="Arial"/>
              </a:rPr>
              <a:t>Đặc</a:t>
            </a:r>
            <a:r>
              <a:rPr sz="1100" b="1" spc="85" dirty="0">
                <a:latin typeface="Arial"/>
                <a:cs typeface="Arial"/>
              </a:rPr>
              <a:t> </a:t>
            </a:r>
            <a:r>
              <a:rPr sz="1100" b="1" spc="-30" dirty="0">
                <a:latin typeface="Arial"/>
                <a:cs typeface="Arial"/>
              </a:rPr>
              <a:t>điểm:</a:t>
            </a:r>
            <a:r>
              <a:rPr sz="1100" b="1" spc="5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API</a:t>
            </a:r>
            <a:r>
              <a:rPr sz="1100" spc="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REST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versioned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rất</a:t>
            </a:r>
            <a:r>
              <a:rPr sz="1100" spc="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chuẩn</a:t>
            </a:r>
            <a:r>
              <a:rPr sz="1100" spc="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mực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114" dirty="0">
                <a:latin typeface="Arial" panose="020B0604020202020204" pitchFamily="34" charset="0"/>
                <a:cs typeface="Arial" panose="020B0604020202020204" pitchFamily="34" charset="0"/>
              </a:rPr>
              <a:t>(/v1/{resource}/...)</a:t>
            </a:r>
            <a:r>
              <a:rPr sz="1100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25" dirty="0">
                <a:latin typeface="Tahoma"/>
                <a:cs typeface="Tahoma"/>
              </a:rPr>
              <a:t>và </a:t>
            </a:r>
            <a:r>
              <a:rPr sz="1100" spc="-10" dirty="0">
                <a:latin typeface="Tahoma"/>
                <a:cs typeface="Tahoma"/>
              </a:rPr>
              <a:t>WebSocket.</a:t>
            </a:r>
            <a:endParaRPr sz="1100" dirty="0">
              <a:latin typeface="Tahoma"/>
              <a:cs typeface="Tahoma"/>
            </a:endParaRPr>
          </a:p>
          <a:p>
            <a:pPr marL="81915">
              <a:lnSpc>
                <a:spcPct val="100000"/>
              </a:lnSpc>
              <a:spcBef>
                <a:spcPts val="335"/>
              </a:spcBef>
            </a:pPr>
            <a:r>
              <a:rPr sz="1100" i="1" dirty="0">
                <a:solidFill>
                  <a:srgbClr val="3333B2"/>
                </a:solidFill>
                <a:latin typeface="Arial"/>
                <a:cs typeface="Arial"/>
              </a:rPr>
              <a:t>→</a:t>
            </a:r>
            <a:r>
              <a:rPr sz="1100" i="1" spc="180" dirty="0">
                <a:solidFill>
                  <a:srgbClr val="3333B2"/>
                </a:solidFill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Cấu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trúc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REST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endpoint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chuẩn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để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thiết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kế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API</a:t>
            </a:r>
            <a:r>
              <a:rPr sz="1100" spc="-20" dirty="0">
                <a:latin typeface="Tahoma"/>
                <a:cs typeface="Tahoma"/>
              </a:rPr>
              <a:t> cho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FDP.</a:t>
            </a:r>
            <a:endParaRPr sz="1100" dirty="0">
              <a:latin typeface="Tahoma"/>
              <a:cs typeface="Tahom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60" dirty="0"/>
              <a:t>Các</a:t>
            </a:r>
            <a:r>
              <a:rPr spc="95" dirty="0"/>
              <a:t> </a:t>
            </a:r>
            <a:r>
              <a:rPr dirty="0"/>
              <a:t>nền</a:t>
            </a:r>
            <a:r>
              <a:rPr spc="100" dirty="0"/>
              <a:t> </a:t>
            </a:r>
            <a:r>
              <a:rPr dirty="0"/>
              <a:t>tảng</a:t>
            </a:r>
            <a:r>
              <a:rPr spc="100" dirty="0"/>
              <a:t> </a:t>
            </a:r>
            <a:r>
              <a:rPr dirty="0"/>
              <a:t>dữ</a:t>
            </a:r>
            <a:r>
              <a:rPr spc="95" dirty="0"/>
              <a:t> </a:t>
            </a:r>
            <a:r>
              <a:rPr dirty="0"/>
              <a:t>liệu</a:t>
            </a:r>
            <a:r>
              <a:rPr spc="100" dirty="0"/>
              <a:t> </a:t>
            </a:r>
            <a:r>
              <a:rPr dirty="0"/>
              <a:t>tham</a:t>
            </a:r>
            <a:r>
              <a:rPr spc="100" dirty="0"/>
              <a:t> </a:t>
            </a:r>
            <a:r>
              <a:rPr dirty="0"/>
              <a:t>khảo</a:t>
            </a:r>
            <a:r>
              <a:rPr spc="95" dirty="0"/>
              <a:t> </a:t>
            </a:r>
            <a:r>
              <a:rPr spc="40" dirty="0"/>
              <a:t>(2)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67297" y="443684"/>
            <a:ext cx="5247005" cy="1634489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79705" indent="-167005">
              <a:lnSpc>
                <a:spcPct val="100000"/>
              </a:lnSpc>
              <a:spcBef>
                <a:spcPts val="434"/>
              </a:spcBef>
              <a:buAutoNum type="arabicPeriod" startAt="3"/>
              <a:tabLst>
                <a:tab pos="179705" algn="l"/>
              </a:tabLst>
            </a:pPr>
            <a:r>
              <a:rPr sz="1100" b="1" spc="-10" dirty="0">
                <a:latin typeface="Arial"/>
                <a:cs typeface="Arial"/>
              </a:rPr>
              <a:t>Economatica</a:t>
            </a:r>
            <a:endParaRPr sz="1100" dirty="0">
              <a:latin typeface="Arial"/>
              <a:cs typeface="Arial"/>
            </a:endParaRPr>
          </a:p>
          <a:p>
            <a:pPr marL="290830" lvl="1" indent="-139700">
              <a:lnSpc>
                <a:spcPct val="100000"/>
              </a:lnSpc>
              <a:spcBef>
                <a:spcPts val="334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/>
                <a:cs typeface="Arial"/>
              </a:rPr>
              <a:t>Mô</a:t>
            </a:r>
            <a:r>
              <a:rPr sz="1100" b="1" spc="35" dirty="0">
                <a:latin typeface="Arial"/>
                <a:cs typeface="Arial"/>
              </a:rPr>
              <a:t> </a:t>
            </a:r>
            <a:r>
              <a:rPr sz="1100" b="1" spc="-35" dirty="0">
                <a:latin typeface="Arial"/>
                <a:cs typeface="Arial"/>
              </a:rPr>
              <a:t>hình:</a:t>
            </a:r>
            <a:r>
              <a:rPr sz="1100" b="1" spc="10" dirty="0">
                <a:latin typeface="Arial"/>
                <a:cs typeface="Arial"/>
              </a:rPr>
              <a:t> </a:t>
            </a:r>
            <a:r>
              <a:rPr sz="1100" spc="-20" dirty="0">
                <a:latin typeface="Tahoma"/>
                <a:cs typeface="Tahoma"/>
              </a:rPr>
              <a:t>Nền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tảng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phân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tích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tài</a:t>
            </a:r>
            <a:r>
              <a:rPr sz="1100" spc="-25" dirty="0">
                <a:latin typeface="Tahoma"/>
                <a:cs typeface="Tahoma"/>
              </a:rPr>
              <a:t> chính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sâu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(40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năm</a:t>
            </a:r>
            <a:r>
              <a:rPr sz="1100" spc="-30" dirty="0">
                <a:latin typeface="Tahoma"/>
                <a:cs typeface="Tahoma"/>
              </a:rPr>
              <a:t> dữ </a:t>
            </a:r>
            <a:r>
              <a:rPr sz="1100" spc="-10" dirty="0">
                <a:latin typeface="Tahoma"/>
                <a:cs typeface="Tahoma"/>
              </a:rPr>
              <a:t>liệu).</a:t>
            </a:r>
            <a:endParaRPr sz="1100" dirty="0">
              <a:latin typeface="Tahoma"/>
              <a:cs typeface="Tahoma"/>
            </a:endParaRPr>
          </a:p>
          <a:p>
            <a:pPr marL="290830" lvl="1" indent="-139700">
              <a:lnSpc>
                <a:spcPct val="100000"/>
              </a:lnSpc>
              <a:spcBef>
                <a:spcPts val="330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/>
                <a:cs typeface="Arial"/>
              </a:rPr>
              <a:t>Tính</a:t>
            </a:r>
            <a:r>
              <a:rPr sz="1100" b="1" spc="35" dirty="0">
                <a:latin typeface="Arial"/>
                <a:cs typeface="Arial"/>
              </a:rPr>
              <a:t> </a:t>
            </a:r>
            <a:r>
              <a:rPr sz="1100" b="1" spc="-40" dirty="0">
                <a:latin typeface="Arial"/>
                <a:cs typeface="Arial"/>
              </a:rPr>
              <a:t>năng:</a:t>
            </a:r>
            <a:r>
              <a:rPr sz="1100" b="1" spc="5" dirty="0">
                <a:latin typeface="Arial"/>
                <a:cs typeface="Arial"/>
              </a:rPr>
              <a:t> </a:t>
            </a:r>
            <a:r>
              <a:rPr sz="1100" spc="-60" dirty="0">
                <a:latin typeface="Tahoma"/>
                <a:cs typeface="Tahoma"/>
              </a:rPr>
              <a:t>Screener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(lọc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đa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điều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kiện),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Comparative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matrix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(so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sánh</a:t>
            </a:r>
            <a:r>
              <a:rPr sz="1100" spc="-30" dirty="0">
                <a:latin typeface="Tahoma"/>
                <a:cs typeface="Tahoma"/>
              </a:rPr>
              <a:t> dữ </a:t>
            </a:r>
            <a:r>
              <a:rPr sz="1100" spc="-10" dirty="0">
                <a:latin typeface="Tahoma"/>
                <a:cs typeface="Tahoma"/>
              </a:rPr>
              <a:t>liệu).</a:t>
            </a:r>
            <a:endParaRPr sz="1100" dirty="0">
              <a:latin typeface="Tahoma"/>
              <a:cs typeface="Tahoma"/>
            </a:endParaRPr>
          </a:p>
          <a:p>
            <a:pPr marL="81915">
              <a:lnSpc>
                <a:spcPct val="100000"/>
              </a:lnSpc>
              <a:spcBef>
                <a:spcPts val="335"/>
              </a:spcBef>
            </a:pPr>
            <a:r>
              <a:rPr sz="1100" i="1" dirty="0">
                <a:solidFill>
                  <a:srgbClr val="3333B2"/>
                </a:solidFill>
                <a:latin typeface="Arial"/>
                <a:cs typeface="Arial"/>
              </a:rPr>
              <a:t>→</a:t>
            </a:r>
            <a:r>
              <a:rPr sz="1100" i="1" spc="145" dirty="0">
                <a:solidFill>
                  <a:srgbClr val="3333B2"/>
                </a:solidFill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Gợi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ý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tính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năng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query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lọc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và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vẽ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biểu </a:t>
            </a:r>
            <a:r>
              <a:rPr sz="1100" spc="-20" dirty="0">
                <a:latin typeface="Tahoma"/>
                <a:cs typeface="Tahoma"/>
              </a:rPr>
              <a:t>đồ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so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sánh.</a:t>
            </a:r>
            <a:endParaRPr sz="11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95"/>
              </a:spcBef>
            </a:pPr>
            <a:endParaRPr sz="1100" dirty="0">
              <a:latin typeface="Tahoma"/>
              <a:cs typeface="Tahoma"/>
            </a:endParaRPr>
          </a:p>
          <a:p>
            <a:pPr marL="179705" indent="-167005">
              <a:lnSpc>
                <a:spcPct val="100000"/>
              </a:lnSpc>
              <a:buAutoNum type="arabicPeriod" startAt="4"/>
              <a:tabLst>
                <a:tab pos="179705" algn="l"/>
              </a:tabLst>
            </a:pPr>
            <a:r>
              <a:rPr sz="1100" b="1" spc="-10" dirty="0">
                <a:latin typeface="Arial"/>
                <a:cs typeface="Arial"/>
              </a:rPr>
              <a:t>AlphaSense</a:t>
            </a:r>
            <a:endParaRPr sz="1100" dirty="0">
              <a:latin typeface="Arial"/>
              <a:cs typeface="Arial"/>
            </a:endParaRPr>
          </a:p>
          <a:p>
            <a:pPr marL="290830" lvl="1" indent="-139700">
              <a:lnSpc>
                <a:spcPct val="100000"/>
              </a:lnSpc>
              <a:spcBef>
                <a:spcPts val="335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/>
                <a:cs typeface="Arial"/>
              </a:rPr>
              <a:t>Mô</a:t>
            </a:r>
            <a:r>
              <a:rPr sz="1100" b="1" spc="65" dirty="0">
                <a:latin typeface="Arial"/>
                <a:cs typeface="Arial"/>
              </a:rPr>
              <a:t> </a:t>
            </a:r>
            <a:r>
              <a:rPr sz="1100" b="1" spc="-35" dirty="0">
                <a:latin typeface="Arial"/>
                <a:cs typeface="Arial"/>
              </a:rPr>
              <a:t>hình: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Tìm </a:t>
            </a:r>
            <a:r>
              <a:rPr sz="1100" spc="-20" dirty="0">
                <a:latin typeface="Tahoma"/>
                <a:cs typeface="Tahoma"/>
              </a:rPr>
              <a:t>kiếm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bằng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AI/NLP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trên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tài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liệu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phi </a:t>
            </a:r>
            <a:r>
              <a:rPr sz="1100" spc="-30" dirty="0">
                <a:latin typeface="Tahoma"/>
                <a:cs typeface="Tahoma"/>
              </a:rPr>
              <a:t>cấu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trúc </a:t>
            </a:r>
            <a:r>
              <a:rPr sz="1100" spc="-25" dirty="0">
                <a:latin typeface="Tahoma"/>
                <a:cs typeface="Tahoma"/>
              </a:rPr>
              <a:t>(transcript,</a:t>
            </a:r>
            <a:r>
              <a:rPr sz="1100" spc="-10" dirty="0">
                <a:latin typeface="Tahoma"/>
                <a:cs typeface="Tahoma"/>
              </a:rPr>
              <a:t> news).</a:t>
            </a:r>
            <a:endParaRPr sz="1100" dirty="0">
              <a:latin typeface="Tahoma"/>
              <a:cs typeface="Tahoma"/>
            </a:endParaRPr>
          </a:p>
          <a:p>
            <a:pPr marL="81915">
              <a:lnSpc>
                <a:spcPct val="100000"/>
              </a:lnSpc>
              <a:spcBef>
                <a:spcPts val="335"/>
              </a:spcBef>
            </a:pPr>
            <a:r>
              <a:rPr sz="1100" i="1" dirty="0">
                <a:solidFill>
                  <a:srgbClr val="3333B2"/>
                </a:solidFill>
                <a:latin typeface="Arial"/>
                <a:cs typeface="Arial"/>
              </a:rPr>
              <a:t>→</a:t>
            </a:r>
            <a:r>
              <a:rPr sz="1100" i="1" spc="235" dirty="0">
                <a:solidFill>
                  <a:srgbClr val="3333B2"/>
                </a:solidFill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Khác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nhóm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bài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toán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nhưng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gợi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ý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75" dirty="0">
                <a:latin typeface="Tahoma"/>
                <a:cs typeface="Tahoma"/>
              </a:rPr>
              <a:t>hướng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75" dirty="0">
                <a:latin typeface="Tahoma"/>
                <a:cs typeface="Tahoma"/>
              </a:rPr>
              <a:t>mở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rộng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AI/Semantic </a:t>
            </a:r>
            <a:r>
              <a:rPr sz="1100" spc="-60" dirty="0">
                <a:latin typeface="Tahoma"/>
                <a:cs typeface="Tahoma"/>
              </a:rPr>
              <a:t>Search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trong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tương</a:t>
            </a:r>
            <a:r>
              <a:rPr sz="1100" spc="-20" dirty="0">
                <a:latin typeface="Tahoma"/>
                <a:cs typeface="Tahoma"/>
              </a:rPr>
              <a:t> lai.</a:t>
            </a:r>
            <a:endParaRPr sz="1100" dirty="0">
              <a:latin typeface="Tahoma"/>
              <a:cs typeface="Tahom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634528" y="1020050"/>
            <a:ext cx="2310765" cy="759460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635" algn="ctr">
              <a:lnSpc>
                <a:spcPct val="100000"/>
              </a:lnSpc>
              <a:spcBef>
                <a:spcPts val="305"/>
              </a:spcBef>
            </a:pPr>
            <a:r>
              <a:rPr sz="2450" b="1" dirty="0">
                <a:solidFill>
                  <a:srgbClr val="000000"/>
                </a:solidFill>
                <a:latin typeface="Arial"/>
                <a:cs typeface="Arial"/>
              </a:rPr>
              <a:t>Phần</a:t>
            </a:r>
            <a:r>
              <a:rPr sz="2450" b="1" spc="45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450" b="1" spc="135" dirty="0">
                <a:solidFill>
                  <a:srgbClr val="000000"/>
                </a:solidFill>
                <a:latin typeface="Arial"/>
                <a:cs typeface="Arial"/>
              </a:rPr>
              <a:t>IV</a:t>
            </a:r>
            <a:endParaRPr sz="245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165"/>
              </a:spcBef>
            </a:pPr>
            <a:r>
              <a:rPr sz="2050" b="1" dirty="0">
                <a:solidFill>
                  <a:srgbClr val="000000"/>
                </a:solidFill>
                <a:latin typeface="Arial"/>
                <a:cs typeface="Arial"/>
              </a:rPr>
              <a:t>Phạm</a:t>
            </a:r>
            <a:r>
              <a:rPr sz="2050" b="1" spc="5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050" b="1" dirty="0">
                <a:solidFill>
                  <a:srgbClr val="000000"/>
                </a:solidFill>
                <a:latin typeface="Arial"/>
                <a:cs typeface="Arial"/>
              </a:rPr>
              <a:t>vi </a:t>
            </a:r>
            <a:r>
              <a:rPr sz="2050" b="1" spc="-10" dirty="0">
                <a:solidFill>
                  <a:srgbClr val="000000"/>
                </a:solidFill>
                <a:latin typeface="Arial"/>
                <a:cs typeface="Arial"/>
              </a:rPr>
              <a:t>của</a:t>
            </a:r>
            <a:r>
              <a:rPr sz="2050" b="1" spc="5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050" b="1" dirty="0">
                <a:solidFill>
                  <a:srgbClr val="000000"/>
                </a:solidFill>
                <a:latin typeface="Arial"/>
                <a:cs typeface="Arial"/>
              </a:rPr>
              <a:t>đề </a:t>
            </a:r>
            <a:r>
              <a:rPr sz="2050" b="1" spc="-25" dirty="0">
                <a:solidFill>
                  <a:srgbClr val="000000"/>
                </a:solidFill>
                <a:latin typeface="Arial"/>
                <a:cs typeface="Arial"/>
              </a:rPr>
              <a:t>tài</a:t>
            </a:r>
            <a:endParaRPr sz="205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759988" cy="3136498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1.</a:t>
            </a:r>
            <a:r>
              <a:rPr spc="165" dirty="0"/>
              <a:t> </a:t>
            </a:r>
            <a:r>
              <a:rPr dirty="0"/>
              <a:t>Phạm</a:t>
            </a:r>
            <a:r>
              <a:rPr spc="170" dirty="0"/>
              <a:t> </a:t>
            </a:r>
            <a:r>
              <a:rPr dirty="0"/>
              <a:t>vi</a:t>
            </a:r>
            <a:r>
              <a:rPr spc="170" dirty="0"/>
              <a:t> </a:t>
            </a:r>
            <a:r>
              <a:rPr dirty="0"/>
              <a:t>chức</a:t>
            </a:r>
            <a:r>
              <a:rPr spc="170" dirty="0"/>
              <a:t> </a:t>
            </a:r>
            <a:r>
              <a:rPr spc="-20" dirty="0"/>
              <a:t>năng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26516" y="555625"/>
            <a:ext cx="5090795" cy="180213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434"/>
              </a:spcBef>
              <a:buClr>
                <a:srgbClr val="3333B2"/>
              </a:buClr>
              <a:buFont typeface="Tahoma"/>
              <a:buChar char="–"/>
              <a:tabLst>
                <a:tab pos="152400" algn="l"/>
              </a:tabLst>
            </a:pPr>
            <a:r>
              <a:rPr sz="1100" b="1" dirty="0">
                <a:latin typeface="Arial"/>
                <a:cs typeface="Arial"/>
              </a:rPr>
              <a:t>Thu</a:t>
            </a:r>
            <a:r>
              <a:rPr sz="1100" b="1" spc="35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thập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b="1" spc="-20" dirty="0">
                <a:latin typeface="Arial"/>
                <a:cs typeface="Arial"/>
              </a:rPr>
              <a:t>(Ingestion):</a:t>
            </a:r>
            <a:r>
              <a:rPr sz="1100" b="1" spc="10" dirty="0">
                <a:latin typeface="Arial"/>
                <a:cs typeface="Arial"/>
              </a:rPr>
              <a:t> </a:t>
            </a:r>
            <a:r>
              <a:rPr sz="1100" spc="-10" dirty="0">
                <a:latin typeface="Tahoma"/>
                <a:cs typeface="Tahoma"/>
              </a:rPr>
              <a:t>Dùng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khóa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(CIK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adsh),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ghi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log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chi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tiết.</a:t>
            </a:r>
            <a:endParaRPr sz="1100" dirty="0">
              <a:latin typeface="Tahoma"/>
              <a:cs typeface="Tahoma"/>
            </a:endParaRPr>
          </a:p>
          <a:p>
            <a:pPr marL="151130" marR="278765" indent="-139065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Font typeface="Tahoma"/>
              <a:buChar char="–"/>
              <a:tabLst>
                <a:tab pos="151130" algn="l"/>
              </a:tabLst>
            </a:pPr>
            <a:r>
              <a:rPr sz="1100" b="1" spc="-35" dirty="0">
                <a:latin typeface="Arial"/>
                <a:cs typeface="Arial"/>
              </a:rPr>
              <a:t>Chuẩn</a:t>
            </a:r>
            <a:r>
              <a:rPr sz="1100" b="1" spc="5" dirty="0">
                <a:latin typeface="Arial"/>
                <a:cs typeface="Arial"/>
              </a:rPr>
              <a:t> </a:t>
            </a:r>
            <a:r>
              <a:rPr sz="1100" b="1" spc="-35" dirty="0">
                <a:latin typeface="Arial"/>
                <a:cs typeface="Arial"/>
              </a:rPr>
              <a:t>hóa:</a:t>
            </a:r>
            <a:r>
              <a:rPr sz="1100" b="1" spc="-1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Ánh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xạ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về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canonical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metric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theo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mức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ưu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tiên;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xử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lý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theo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thời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đoạn (qtrs)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và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dấu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(crdr).</a:t>
            </a:r>
            <a:endParaRPr sz="1100" dirty="0">
              <a:latin typeface="Tahoma"/>
              <a:cs typeface="Tahoma"/>
            </a:endParaRPr>
          </a:p>
          <a:p>
            <a:pPr marL="151130" marR="219075" indent="-139065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Font typeface="Tahoma"/>
              <a:buChar char="–"/>
              <a:tabLst>
                <a:tab pos="151130" algn="l"/>
              </a:tabLst>
            </a:pPr>
            <a:r>
              <a:rPr sz="1100" b="1" dirty="0">
                <a:latin typeface="Arial"/>
                <a:cs typeface="Arial"/>
              </a:rPr>
              <a:t>Kiểm</a:t>
            </a:r>
            <a:r>
              <a:rPr sz="1100" b="1" spc="5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tra</a:t>
            </a:r>
            <a:r>
              <a:rPr sz="1100" b="1" spc="55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chất</a:t>
            </a:r>
            <a:r>
              <a:rPr sz="1100" b="1" spc="55" dirty="0">
                <a:latin typeface="Arial"/>
                <a:cs typeface="Arial"/>
              </a:rPr>
              <a:t> </a:t>
            </a:r>
            <a:r>
              <a:rPr sz="1100" b="1" spc="-85" dirty="0">
                <a:latin typeface="Arial"/>
                <a:cs typeface="Arial"/>
              </a:rPr>
              <a:t>lượng:</a:t>
            </a:r>
            <a:r>
              <a:rPr sz="1100" b="1" spc="25" dirty="0">
                <a:latin typeface="Arial"/>
                <a:cs typeface="Arial"/>
              </a:rPr>
              <a:t> </a:t>
            </a:r>
            <a:r>
              <a:rPr sz="1100" spc="-10" dirty="0">
                <a:latin typeface="Tahoma"/>
                <a:cs typeface="Tahoma"/>
              </a:rPr>
              <a:t>Dùng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khóa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(cik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tag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ddate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qtrs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+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adsh)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phát</a:t>
            </a:r>
            <a:r>
              <a:rPr sz="1100" spc="-20" dirty="0">
                <a:latin typeface="Tahoma"/>
                <a:cs typeface="Tahoma"/>
              </a:rPr>
              <a:t> hiện </a:t>
            </a:r>
            <a:r>
              <a:rPr sz="1100" spc="-30" dirty="0">
                <a:latin typeface="Tahoma"/>
                <a:cs typeface="Tahoma"/>
              </a:rPr>
              <a:t>trùng,</a:t>
            </a:r>
            <a:r>
              <a:rPr sz="1100" spc="-45" dirty="0">
                <a:latin typeface="Tahoma"/>
                <a:cs typeface="Tahoma"/>
              </a:rPr>
              <a:t> gắn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cờ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lỗi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(không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xóa).</a:t>
            </a:r>
            <a:endParaRPr sz="1100" dirty="0">
              <a:latin typeface="Tahoma"/>
              <a:cs typeface="Tahoma"/>
            </a:endParaRPr>
          </a:p>
          <a:p>
            <a:pPr marL="152400" indent="-139700">
              <a:lnSpc>
                <a:spcPct val="100000"/>
              </a:lnSpc>
              <a:spcBef>
                <a:spcPts val="330"/>
              </a:spcBef>
              <a:buClr>
                <a:srgbClr val="3333B2"/>
              </a:buClr>
              <a:buFont typeface="Tahoma"/>
              <a:buChar char="–"/>
              <a:tabLst>
                <a:tab pos="152400" algn="l"/>
              </a:tabLst>
            </a:pPr>
            <a:r>
              <a:rPr sz="1100" b="1" spc="-40" dirty="0">
                <a:latin typeface="Arial"/>
                <a:cs typeface="Arial"/>
              </a:rPr>
              <a:t>Lưu</a:t>
            </a:r>
            <a:r>
              <a:rPr sz="1100" b="1" spc="-35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trữ</a:t>
            </a:r>
            <a:r>
              <a:rPr sz="1100" b="1" spc="-15" dirty="0">
                <a:latin typeface="Arial"/>
                <a:cs typeface="Arial"/>
              </a:rPr>
              <a:t> </a:t>
            </a:r>
            <a:r>
              <a:rPr sz="1100" b="1" spc="-20" dirty="0">
                <a:latin typeface="Arial"/>
                <a:cs typeface="Arial"/>
              </a:rPr>
              <a:t>lịch</a:t>
            </a:r>
            <a:r>
              <a:rPr sz="1100" b="1" spc="25" dirty="0">
                <a:latin typeface="Arial"/>
                <a:cs typeface="Arial"/>
              </a:rPr>
              <a:t> </a:t>
            </a:r>
            <a:r>
              <a:rPr sz="1100" b="1" spc="-105" dirty="0">
                <a:latin typeface="Arial"/>
                <a:cs typeface="Arial"/>
              </a:rPr>
              <a:t>sử: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Báo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cáo</a:t>
            </a:r>
            <a:r>
              <a:rPr sz="1100" spc="-45" dirty="0">
                <a:latin typeface="Tahoma"/>
                <a:cs typeface="Tahoma"/>
              </a:rPr>
              <a:t> điều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chỉnh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lưu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song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song,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không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ghi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80" dirty="0">
                <a:latin typeface="Tahoma"/>
                <a:cs typeface="Tahoma"/>
              </a:rPr>
              <a:t>đè;</a:t>
            </a:r>
            <a:r>
              <a:rPr sz="1100" spc="-10" dirty="0">
                <a:latin typeface="Tahoma"/>
                <a:cs typeface="Tahoma"/>
              </a:rPr>
              <a:t> hỗ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trợ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versioning.</a:t>
            </a:r>
            <a:endParaRPr sz="1100" dirty="0">
              <a:latin typeface="Tahoma"/>
              <a:cs typeface="Tahoma"/>
            </a:endParaRPr>
          </a:p>
          <a:p>
            <a:pPr marL="151130" marR="168910" indent="-139065">
              <a:lnSpc>
                <a:spcPct val="102600"/>
              </a:lnSpc>
              <a:spcBef>
                <a:spcPts val="300"/>
              </a:spcBef>
              <a:buClr>
                <a:srgbClr val="3333B2"/>
              </a:buClr>
              <a:buFont typeface="Tahoma"/>
              <a:buChar char="–"/>
              <a:tabLst>
                <a:tab pos="151130" algn="l"/>
              </a:tabLst>
            </a:pPr>
            <a:r>
              <a:rPr sz="1100" b="1" spc="-10" dirty="0">
                <a:latin typeface="Arial"/>
                <a:cs typeface="Arial"/>
              </a:rPr>
              <a:t>Truy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20" dirty="0">
                <a:latin typeface="Arial"/>
                <a:cs typeface="Arial"/>
              </a:rPr>
              <a:t>vấn</a:t>
            </a:r>
            <a:r>
              <a:rPr sz="1100" b="1" spc="35" dirty="0">
                <a:latin typeface="Arial"/>
                <a:cs typeface="Arial"/>
              </a:rPr>
              <a:t> </a:t>
            </a:r>
            <a:r>
              <a:rPr sz="1100" b="1" spc="100" dirty="0">
                <a:latin typeface="Arial"/>
                <a:cs typeface="Arial"/>
              </a:rPr>
              <a:t>&amp;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b="1" spc="-10" dirty="0">
                <a:latin typeface="Arial"/>
                <a:cs typeface="Arial"/>
              </a:rPr>
              <a:t>Phân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b="1" spc="-10" dirty="0">
                <a:latin typeface="Arial"/>
                <a:cs typeface="Arial"/>
              </a:rPr>
              <a:t>tích:</a:t>
            </a:r>
            <a:r>
              <a:rPr sz="1100" b="1" spc="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Tìm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kiếm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DN,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xem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lịch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sử/xu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hướng,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so </a:t>
            </a:r>
            <a:r>
              <a:rPr sz="1100" spc="-55" dirty="0">
                <a:latin typeface="Tahoma"/>
                <a:cs typeface="Tahoma"/>
              </a:rPr>
              <a:t>sánh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(2-</a:t>
            </a:r>
            <a:r>
              <a:rPr sz="1100" dirty="0">
                <a:latin typeface="Tahoma"/>
                <a:cs typeface="Tahoma"/>
              </a:rPr>
              <a:t>5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DN), </a:t>
            </a:r>
            <a:r>
              <a:rPr sz="1100" dirty="0">
                <a:latin typeface="Tahoma"/>
                <a:cs typeface="Tahoma"/>
              </a:rPr>
              <a:t>tính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chỉ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số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dẫn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xuất.</a:t>
            </a:r>
            <a:endParaRPr sz="1100" dirty="0">
              <a:latin typeface="Tahoma"/>
              <a:cs typeface="Tahoma"/>
            </a:endParaRPr>
          </a:p>
          <a:p>
            <a:pPr marL="152400" indent="-139700">
              <a:lnSpc>
                <a:spcPct val="100000"/>
              </a:lnSpc>
              <a:spcBef>
                <a:spcPts val="335"/>
              </a:spcBef>
              <a:buClr>
                <a:srgbClr val="3333B2"/>
              </a:buClr>
              <a:buFont typeface="Tahoma"/>
              <a:buChar char="–"/>
              <a:tabLst>
                <a:tab pos="152400" algn="l"/>
              </a:tabLst>
            </a:pPr>
            <a:r>
              <a:rPr sz="1100" b="1" spc="-10" dirty="0">
                <a:latin typeface="Arial"/>
                <a:cs typeface="Arial"/>
              </a:rPr>
              <a:t>Kênh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45" dirty="0">
                <a:latin typeface="Arial"/>
                <a:cs typeface="Arial"/>
              </a:rPr>
              <a:t>cung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45" dirty="0">
                <a:latin typeface="Arial"/>
                <a:cs typeface="Arial"/>
              </a:rPr>
              <a:t>cấp:</a:t>
            </a:r>
            <a:r>
              <a:rPr sz="1100" b="1" spc="5" dirty="0">
                <a:latin typeface="Arial"/>
                <a:cs typeface="Arial"/>
              </a:rPr>
              <a:t> </a:t>
            </a:r>
            <a:r>
              <a:rPr sz="1100" spc="-10" dirty="0">
                <a:latin typeface="Tahoma"/>
                <a:cs typeface="Tahoma"/>
              </a:rPr>
              <a:t>Giao</a:t>
            </a:r>
            <a:r>
              <a:rPr sz="1100" spc="-40" dirty="0">
                <a:latin typeface="Tahoma"/>
                <a:cs typeface="Tahoma"/>
              </a:rPr>
              <a:t> diện </a:t>
            </a:r>
            <a:r>
              <a:rPr sz="1100" spc="-20" dirty="0">
                <a:latin typeface="Tahoma"/>
                <a:cs typeface="Tahoma"/>
              </a:rPr>
              <a:t>Web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(Desktop)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và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REST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API.</a:t>
            </a:r>
            <a:endParaRPr sz="1100" dirty="0">
              <a:latin typeface="Tahoma"/>
              <a:cs typeface="Tahom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759988" cy="3136498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2.</a:t>
            </a:r>
            <a:r>
              <a:rPr spc="150" dirty="0"/>
              <a:t> </a:t>
            </a:r>
            <a:r>
              <a:rPr dirty="0"/>
              <a:t>Phạm</a:t>
            </a:r>
            <a:r>
              <a:rPr spc="155" dirty="0"/>
              <a:t> </a:t>
            </a:r>
            <a:r>
              <a:rPr dirty="0"/>
              <a:t>vi</a:t>
            </a:r>
            <a:r>
              <a:rPr spc="155" dirty="0"/>
              <a:t> </a:t>
            </a:r>
            <a:r>
              <a:rPr dirty="0"/>
              <a:t>dữ</a:t>
            </a:r>
            <a:r>
              <a:rPr spc="155" dirty="0"/>
              <a:t> </a:t>
            </a:r>
            <a:r>
              <a:rPr spc="-20" dirty="0"/>
              <a:t>liệu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67297" y="466439"/>
            <a:ext cx="4451350" cy="1852295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55"/>
              </a:spcBef>
            </a:pPr>
            <a:r>
              <a:rPr sz="1200" dirty="0">
                <a:solidFill>
                  <a:srgbClr val="3333B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Quy</a:t>
            </a:r>
            <a:r>
              <a:rPr sz="1200" spc="55" dirty="0">
                <a:solidFill>
                  <a:srgbClr val="3333B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>
                <a:solidFill>
                  <a:srgbClr val="3333B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sz="1200" spc="60" dirty="0">
                <a:solidFill>
                  <a:srgbClr val="3333B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>
                <a:solidFill>
                  <a:srgbClr val="3333B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tham</a:t>
            </a:r>
            <a:r>
              <a:rPr sz="1200" spc="60" dirty="0">
                <a:solidFill>
                  <a:srgbClr val="3333B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>
                <a:solidFill>
                  <a:srgbClr val="3333B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chiếu</a:t>
            </a:r>
            <a:r>
              <a:rPr sz="1200" spc="60" dirty="0">
                <a:solidFill>
                  <a:srgbClr val="3333B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spc="95" dirty="0">
                <a:solidFill>
                  <a:srgbClr val="3333B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(SEC</a:t>
            </a:r>
            <a:r>
              <a:rPr sz="1200" spc="60" dirty="0">
                <a:solidFill>
                  <a:srgbClr val="3333B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spc="-10" dirty="0">
                <a:solidFill>
                  <a:srgbClr val="3333B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Data)</a:t>
            </a:r>
            <a:endParaRPr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90830" indent="-139700">
              <a:lnSpc>
                <a:spcPct val="100000"/>
              </a:lnSpc>
              <a:spcBef>
                <a:spcPts val="590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 panose="020B0604020202020204" pitchFamily="34" charset="0"/>
                <a:cs typeface="Arial" panose="020B0604020202020204" pitchFamily="34" charset="0"/>
              </a:rPr>
              <a:t>Quy</a:t>
            </a:r>
            <a:r>
              <a:rPr sz="1100" b="1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dirty="0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sz="1100" b="1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spc="-45" dirty="0">
                <a:latin typeface="Arial" panose="020B0604020202020204" pitchFamily="34" charset="0"/>
                <a:cs typeface="Arial" panose="020B0604020202020204" pitchFamily="34" charset="0"/>
              </a:rPr>
              <a:t>doanh</a:t>
            </a:r>
            <a:r>
              <a:rPr sz="1100" b="1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spc="-50" dirty="0">
                <a:latin typeface="Arial" panose="020B0604020202020204" pitchFamily="34" charset="0"/>
                <a:cs typeface="Arial" panose="020B0604020202020204" pitchFamily="34" charset="0"/>
              </a:rPr>
              <a:t>nghiệp:</a:t>
            </a:r>
            <a:r>
              <a:rPr sz="1100" b="1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20" dirty="0">
                <a:latin typeface="Arial" panose="020B0604020202020204" pitchFamily="34" charset="0"/>
                <a:cs typeface="Arial" panose="020B0604020202020204" pitchFamily="34" charset="0"/>
              </a:rPr>
              <a:t>30</a:t>
            </a:r>
            <a:r>
              <a:rPr sz="11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55" dirty="0">
                <a:latin typeface="Arial" panose="020B0604020202020204" pitchFamily="34" charset="0"/>
                <a:cs typeface="Arial" panose="020B0604020202020204" pitchFamily="34" charset="0"/>
              </a:rPr>
              <a:t>doanh</a:t>
            </a:r>
            <a:r>
              <a:rPr sz="11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45" dirty="0"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r>
              <a:rPr sz="11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10" dirty="0">
                <a:latin typeface="Arial" panose="020B0604020202020204" pitchFamily="34" charset="0"/>
                <a:cs typeface="Arial" panose="020B0604020202020204" pitchFamily="34" charset="0"/>
              </a:rPr>
              <a:t>(đa</a:t>
            </a:r>
            <a:r>
              <a:rPr sz="11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45" dirty="0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sz="11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30" dirty="0">
                <a:latin typeface="Arial" panose="020B0604020202020204" pitchFamily="34" charset="0"/>
                <a:cs typeface="Arial" panose="020B0604020202020204" pitchFamily="34" charset="0"/>
              </a:rPr>
              <a:t>mã</a:t>
            </a:r>
            <a:r>
              <a:rPr sz="1100" spc="-55" dirty="0">
                <a:latin typeface="Arial" panose="020B0604020202020204" pitchFamily="34" charset="0"/>
                <a:cs typeface="Arial" panose="020B0604020202020204" pitchFamily="34" charset="0"/>
              </a:rPr>
              <a:t> ngành</a:t>
            </a:r>
            <a:r>
              <a:rPr sz="1100" spc="-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11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10" dirty="0">
                <a:latin typeface="Arial" panose="020B0604020202020204" pitchFamily="34" charset="0"/>
                <a:cs typeface="Arial" panose="020B0604020202020204" pitchFamily="34" charset="0"/>
              </a:rPr>
              <a:t>sic).</a:t>
            </a:r>
            <a:endParaRPr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90830" indent="-139700">
              <a:lnSpc>
                <a:spcPct val="100000"/>
              </a:lnSpc>
              <a:spcBef>
                <a:spcPts val="334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 panose="020B0604020202020204" pitchFamily="34" charset="0"/>
                <a:cs typeface="Arial" panose="020B0604020202020204" pitchFamily="34" charset="0"/>
              </a:rPr>
              <a:t>Độ</a:t>
            </a:r>
            <a:r>
              <a:rPr sz="1100" b="1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spc="-60" dirty="0">
                <a:latin typeface="Arial" panose="020B0604020202020204" pitchFamily="34" charset="0"/>
                <a:cs typeface="Arial" panose="020B0604020202020204" pitchFamily="34" charset="0"/>
              </a:rPr>
              <a:t>sâu</a:t>
            </a:r>
            <a:r>
              <a:rPr sz="1100" b="1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spc="-30" dirty="0">
                <a:latin typeface="Arial" panose="020B0604020202020204" pitchFamily="34" charset="0"/>
                <a:cs typeface="Arial" panose="020B0604020202020204" pitchFamily="34" charset="0"/>
              </a:rPr>
              <a:t>thời</a:t>
            </a:r>
            <a:r>
              <a:rPr sz="1100" b="1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spc="-35" dirty="0">
                <a:latin typeface="Arial" panose="020B0604020202020204" pitchFamily="34" charset="0"/>
                <a:cs typeface="Arial" panose="020B0604020202020204" pitchFamily="34" charset="0"/>
              </a:rPr>
              <a:t>gian:</a:t>
            </a:r>
            <a:r>
              <a:rPr sz="1100" b="1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dirty="0">
                <a:latin typeface="Arial" panose="020B0604020202020204" pitchFamily="34" charset="0"/>
                <a:cs typeface="Arial" panose="020B0604020202020204" pitchFamily="34" charset="0"/>
              </a:rPr>
              <a:t>Tối</a:t>
            </a:r>
            <a:r>
              <a:rPr sz="11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20" dirty="0">
                <a:latin typeface="Arial" panose="020B0604020202020204" pitchFamily="34" charset="0"/>
                <a:cs typeface="Arial" panose="020B0604020202020204" pitchFamily="34" charset="0"/>
              </a:rPr>
              <a:t>thiểu</a:t>
            </a:r>
            <a:r>
              <a:rPr sz="11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20" dirty="0">
                <a:latin typeface="Arial" panose="020B0604020202020204" pitchFamily="34" charset="0"/>
                <a:cs typeface="Arial" panose="020B0604020202020204" pitchFamily="34" charset="0"/>
              </a:rPr>
              <a:t>12</a:t>
            </a:r>
            <a:r>
              <a:rPr sz="11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35" dirty="0">
                <a:latin typeface="Arial" panose="020B0604020202020204" pitchFamily="34" charset="0"/>
                <a:cs typeface="Arial" panose="020B0604020202020204" pitchFamily="34" charset="0"/>
              </a:rPr>
              <a:t>quý</a:t>
            </a:r>
            <a:r>
              <a:rPr sz="11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20" dirty="0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sz="11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20" dirty="0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sz="11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dirty="0">
                <a:latin typeface="Arial" panose="020B0604020202020204" pitchFamily="34" charset="0"/>
                <a:cs typeface="Arial" panose="020B0604020202020204" pitchFamily="34" charset="0"/>
              </a:rPr>
              <a:t>lịch</a:t>
            </a:r>
            <a:r>
              <a:rPr sz="11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25" dirty="0">
                <a:latin typeface="Arial" panose="020B0604020202020204" pitchFamily="34" charset="0"/>
                <a:cs typeface="Arial" panose="020B0604020202020204" pitchFamily="34" charset="0"/>
              </a:rPr>
              <a:t>sử.</a:t>
            </a:r>
            <a:endParaRPr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90830" indent="-139700">
              <a:lnSpc>
                <a:spcPct val="100000"/>
              </a:lnSpc>
              <a:spcBef>
                <a:spcPts val="330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sz="1100" b="1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spc="-10" dirty="0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sz="11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spc="-25" dirty="0">
                <a:latin typeface="Arial" panose="020B0604020202020204" pitchFamily="34" charset="0"/>
                <a:cs typeface="Arial" panose="020B0604020202020204" pitchFamily="34" charset="0"/>
              </a:rPr>
              <a:t>chỉ</a:t>
            </a:r>
            <a:r>
              <a:rPr sz="1100" b="1" spc="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dirty="0">
                <a:latin typeface="Arial" panose="020B0604020202020204" pitchFamily="34" charset="0"/>
                <a:cs typeface="Arial" panose="020B0604020202020204" pitchFamily="34" charset="0"/>
              </a:rPr>
              <a:t>tiêu:</a:t>
            </a:r>
            <a:r>
              <a:rPr sz="1100" b="1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dirty="0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sz="11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35" dirty="0">
                <a:latin typeface="Arial" panose="020B0604020202020204" pitchFamily="34" charset="0"/>
                <a:cs typeface="Arial" panose="020B0604020202020204" pitchFamily="34" charset="0"/>
              </a:rPr>
              <a:t>canonical</a:t>
            </a:r>
            <a:r>
              <a:rPr sz="11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30" dirty="0">
                <a:latin typeface="Arial" panose="020B0604020202020204" pitchFamily="34" charset="0"/>
                <a:cs typeface="Arial" panose="020B0604020202020204" pitchFamily="34" charset="0"/>
              </a:rPr>
              <a:t>metrics</a:t>
            </a:r>
            <a:r>
              <a:rPr sz="1100" spc="-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20" dirty="0">
                <a:latin typeface="Arial" panose="020B0604020202020204" pitchFamily="34" charset="0"/>
                <a:cs typeface="Arial" panose="020B0604020202020204" pitchFamily="34" charset="0"/>
              </a:rPr>
              <a:t>xác</a:t>
            </a:r>
            <a:r>
              <a:rPr sz="11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25" dirty="0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sz="11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10" dirty="0">
                <a:latin typeface="Arial" panose="020B0604020202020204" pitchFamily="34" charset="0"/>
                <a:cs typeface="Arial" panose="020B0604020202020204" pitchFamily="34" charset="0"/>
              </a:rPr>
              <a:t>trước.</a:t>
            </a:r>
            <a:endParaRPr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90830" indent="-139700">
              <a:lnSpc>
                <a:spcPct val="100000"/>
              </a:lnSpc>
              <a:spcBef>
                <a:spcPts val="335"/>
              </a:spcBef>
              <a:buClr>
                <a:srgbClr val="3333B2"/>
              </a:buClr>
              <a:buFont typeface="Tahoma"/>
              <a:buChar char="–"/>
              <a:tabLst>
                <a:tab pos="290830" algn="l"/>
              </a:tabLst>
            </a:pPr>
            <a:r>
              <a:rPr sz="1100" b="1" dirty="0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sz="1100" b="1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spc="-10" dirty="0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sz="1100" b="1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dirty="0">
                <a:latin typeface="Arial" panose="020B0604020202020204" pitchFamily="34" charset="0"/>
                <a:cs typeface="Arial" panose="020B0604020202020204" pitchFamily="34" charset="0"/>
              </a:rPr>
              <a:t>thị</a:t>
            </a:r>
            <a:r>
              <a:rPr sz="1100" b="1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spc="-60" dirty="0">
                <a:latin typeface="Arial" panose="020B0604020202020204" pitchFamily="34" charset="0"/>
                <a:cs typeface="Arial" panose="020B0604020202020204" pitchFamily="34" charset="0"/>
              </a:rPr>
              <a:t>trường:</a:t>
            </a:r>
            <a:r>
              <a:rPr sz="1100" b="1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dirty="0">
                <a:latin typeface="Arial" panose="020B0604020202020204" pitchFamily="34" charset="0"/>
                <a:cs typeface="Arial" panose="020B0604020202020204" pitchFamily="34" charset="0"/>
              </a:rPr>
              <a:t>Bổ</a:t>
            </a:r>
            <a:r>
              <a:rPr sz="11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55" dirty="0">
                <a:latin typeface="Arial" panose="020B0604020202020204" pitchFamily="34" charset="0"/>
                <a:cs typeface="Arial" panose="020B0604020202020204" pitchFamily="34" charset="0"/>
              </a:rPr>
              <a:t>sung</a:t>
            </a:r>
            <a:r>
              <a:rPr sz="11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30" dirty="0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sz="11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10" dirty="0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sz="11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dirty="0">
                <a:latin typeface="Arial" panose="020B0604020202020204" pitchFamily="34" charset="0"/>
                <a:cs typeface="Arial" panose="020B0604020202020204" pitchFamily="34" charset="0"/>
              </a:rPr>
              <a:t>lịch</a:t>
            </a:r>
            <a:r>
              <a:rPr sz="1100" spc="-50" dirty="0">
                <a:latin typeface="Arial" panose="020B0604020202020204" pitchFamily="34" charset="0"/>
                <a:cs typeface="Arial" panose="020B0604020202020204" pitchFamily="34" charset="0"/>
              </a:rPr>
              <a:t> sử</a:t>
            </a:r>
            <a:r>
              <a:rPr sz="11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10" dirty="0">
                <a:latin typeface="Arial" panose="020B0604020202020204" pitchFamily="34" charset="0"/>
                <a:cs typeface="Arial" panose="020B0604020202020204" pitchFamily="34" charset="0"/>
              </a:rPr>
              <a:t>giá</a:t>
            </a:r>
            <a:r>
              <a:rPr sz="1100" spc="-4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dirty="0">
                <a:latin typeface="Arial" panose="020B0604020202020204" pitchFamily="34" charset="0"/>
                <a:cs typeface="Arial" panose="020B0604020202020204" pitchFamily="34" charset="0"/>
              </a:rPr>
              <a:t>cổ</a:t>
            </a:r>
            <a:r>
              <a:rPr sz="11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10" dirty="0">
                <a:latin typeface="Arial" panose="020B0604020202020204" pitchFamily="34" charset="0"/>
                <a:cs typeface="Arial" panose="020B0604020202020204" pitchFamily="34" charset="0"/>
              </a:rPr>
              <a:t>phiếu.</a:t>
            </a:r>
            <a:endParaRPr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ts val="1105"/>
              </a:spcBef>
            </a:pPr>
            <a:endParaRPr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sz="1200" spc="35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tiêu</a:t>
            </a:r>
            <a:r>
              <a:rPr sz="1200" spc="35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chất</a:t>
            </a:r>
            <a:r>
              <a:rPr sz="1200" spc="35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spc="-35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lượng</a:t>
            </a:r>
            <a:r>
              <a:rPr sz="1200" spc="35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spc="-2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sz="1200" spc="35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spc="-2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endParaRPr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sz="1100" dirty="0">
                <a:latin typeface="Arial" panose="020B0604020202020204" pitchFamily="34" charset="0"/>
                <a:cs typeface="Arial" panose="020B0604020202020204" pitchFamily="34" charset="0"/>
              </a:rPr>
              <a:t>Đạt</a:t>
            </a:r>
            <a:r>
              <a:rPr sz="11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dirty="0">
                <a:latin typeface="Arial" panose="020B0604020202020204" pitchFamily="34" charset="0"/>
                <a:cs typeface="Arial" panose="020B0604020202020204" pitchFamily="34" charset="0"/>
              </a:rPr>
              <a:t>tối</a:t>
            </a:r>
            <a:r>
              <a:rPr sz="11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25" dirty="0">
                <a:latin typeface="Arial" panose="020B0604020202020204" pitchFamily="34" charset="0"/>
                <a:cs typeface="Arial" panose="020B0604020202020204" pitchFamily="34" charset="0"/>
              </a:rPr>
              <a:t>thiểu</a:t>
            </a:r>
            <a:r>
              <a:rPr sz="11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dirty="0">
                <a:latin typeface="Arial" panose="020B0604020202020204" pitchFamily="34" charset="0"/>
                <a:cs typeface="Arial" panose="020B0604020202020204" pitchFamily="34" charset="0"/>
              </a:rPr>
              <a:t>70%</a:t>
            </a:r>
            <a:r>
              <a:rPr sz="1100" b="1" spc="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spc="-60" dirty="0">
                <a:latin typeface="Arial" panose="020B0604020202020204" pitchFamily="34" charset="0"/>
                <a:cs typeface="Arial" panose="020B0604020202020204" pitchFamily="34" charset="0"/>
              </a:rPr>
              <a:t>coverage</a:t>
            </a:r>
            <a:r>
              <a:rPr sz="1100" b="1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20" dirty="0">
                <a:latin typeface="Arial" panose="020B0604020202020204" pitchFamily="34" charset="0"/>
                <a:cs typeface="Arial" panose="020B0604020202020204" pitchFamily="34" charset="0"/>
              </a:rPr>
              <a:t>(độ</a:t>
            </a:r>
            <a:r>
              <a:rPr sz="11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25" dirty="0">
                <a:latin typeface="Arial" panose="020B0604020202020204" pitchFamily="34" charset="0"/>
                <a:cs typeface="Arial" panose="020B0604020202020204" pitchFamily="34" charset="0"/>
              </a:rPr>
              <a:t>phủ)</a:t>
            </a:r>
            <a:r>
              <a:rPr sz="11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10" dirty="0">
                <a:latin typeface="Arial" panose="020B0604020202020204" pitchFamily="34" charset="0"/>
                <a:cs typeface="Arial" panose="020B0604020202020204" pitchFamily="34" charset="0"/>
              </a:rPr>
              <a:t>đối </a:t>
            </a:r>
            <a:r>
              <a:rPr sz="1100" spc="-20" dirty="0">
                <a:latin typeface="Arial" panose="020B0604020202020204" pitchFamily="34" charset="0"/>
                <a:cs typeface="Arial" panose="020B0604020202020204" pitchFamily="34" charset="0"/>
              </a:rPr>
              <a:t>với </a:t>
            </a:r>
            <a:r>
              <a:rPr sz="1100" dirty="0">
                <a:latin typeface="Arial" panose="020B0604020202020204" pitchFamily="34" charset="0"/>
                <a:cs typeface="Arial" panose="020B0604020202020204" pitchFamily="34" charset="0"/>
              </a:rPr>
              <a:t>ít</a:t>
            </a:r>
            <a:r>
              <a:rPr sz="11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spc="-10" dirty="0">
                <a:latin typeface="Arial" panose="020B0604020202020204" pitchFamily="34" charset="0"/>
                <a:cs typeface="Arial" panose="020B0604020202020204" pitchFamily="34" charset="0"/>
              </a:rPr>
              <a:t>nhất</a:t>
            </a:r>
            <a:r>
              <a:rPr sz="11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sz="1100" b="1" spc="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spc="-55" dirty="0">
                <a:latin typeface="Arial" panose="020B0604020202020204" pitchFamily="34" charset="0"/>
                <a:cs typeface="Arial" panose="020B0604020202020204" pitchFamily="34" charset="0"/>
              </a:rPr>
              <a:t>canonical</a:t>
            </a:r>
            <a:r>
              <a:rPr sz="1100" b="1" spc="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100" b="1" spc="-10" dirty="0">
                <a:latin typeface="Arial" panose="020B0604020202020204" pitchFamily="34" charset="0"/>
                <a:cs typeface="Arial" panose="020B0604020202020204" pitchFamily="34" charset="0"/>
              </a:rPr>
              <a:t>metrics</a:t>
            </a:r>
            <a:r>
              <a:rPr sz="1100" spc="-1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</TotalTime>
  <Words>1163</Words>
  <Application>Microsoft Office PowerPoint</Application>
  <PresentationFormat>Custom</PresentationFormat>
  <Paragraphs>118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Tahoma</vt:lpstr>
      <vt:lpstr>Office Theme</vt:lpstr>
      <vt:lpstr>PowerPoint Presentation</vt:lpstr>
      <vt:lpstr>PowerPoint Presentation</vt:lpstr>
      <vt:lpstr>Nội dung trình bày I</vt:lpstr>
      <vt:lpstr>Phần I Tổng quan đề tài</vt:lpstr>
      <vt:lpstr>1. Đặt vấn đề</vt:lpstr>
      <vt:lpstr>2. Mục tiêu đề tài</vt:lpstr>
      <vt:lpstr>3. Đối tượng sử dụng</vt:lpstr>
      <vt:lpstr>Phần II Phân tích tập dữ liệu SEC</vt:lpstr>
      <vt:lpstr>Phân tích file sub.txt và num.txt</vt:lpstr>
      <vt:lpstr>Phân tích file tag.txt và pre.txt</vt:lpstr>
      <vt:lpstr>Phần III Nghiên cứu Case Study</vt:lpstr>
      <vt:lpstr>Các nền tảng dữ liệu tham khảo (1)</vt:lpstr>
      <vt:lpstr>Các nền tảng dữ liệu tham khảo (2)</vt:lpstr>
      <vt:lpstr>Phần IV Phạm vi của đề tài</vt:lpstr>
      <vt:lpstr>1. Phạm vi chức năng</vt:lpstr>
      <vt:lpstr>2. Phạm vi dữ liệu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TỔNG QUAN: FINANCIAL DATA PLATFORM (FDP)</dc:title>
  <dc:creator> Phạm Hải Nam - 20235791[0.5em] GVHD: TS. Nguyễn Đức Toàn </dc:creator>
  <cp:lastModifiedBy>Pham Hai Nam 20235791</cp:lastModifiedBy>
  <cp:revision>3</cp:revision>
  <dcterms:created xsi:type="dcterms:W3CDTF">2026-10-01T08:35:32Z</dcterms:created>
  <dcterms:modified xsi:type="dcterms:W3CDTF">2026-10-01T16:24:12Z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v10.0.20070.1</vt:lpwstr>
  </property>
  <property fmtid="{D5CDD505-2E9C-101B-9397-08002B2CF9AE}" pid="3" name="Created">
    <vt:filetime>2026-10-01T00:00:00Z</vt:filetime>
  </property>
  <property fmtid="{D5CDD505-2E9C-101B-9397-08002B2CF9AE}" pid="4" name="Creator">
    <vt:lpwstr>LaTeX with Beamer class</vt:lpwstr>
  </property>
  <property fmtid="{D5CDD505-2E9C-101B-9397-08002B2CF9AE}" pid="5" name="LastSaved">
    <vt:filetime>2026-10-01T00:00:00Z</vt:filetime>
  </property>
  <property fmtid="{D5CDD505-2E9C-101B-9397-08002B2CF9AE}" pid="6" name="PTEX.Fullbanner">
    <vt:lpwstr>This is pdfTeX, Version 3.141592653-2.6-1.40.29 (TeX Live 2026) kpathsea version 6.4.2</vt:lpwstr>
  </property>
  <property fmtid="{D5CDD505-2E9C-101B-9397-08002B2CF9AE}" pid="7" name="Producer">
    <vt:lpwstr>3-Heights(TM) PDF Security Shell 4.8.25.2 (http://www.pdf-tools.com)</vt:lpwstr>
  </property>
</Properties>
</file>