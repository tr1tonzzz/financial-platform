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a62d1f05f34380" /><Relationship Type="http://schemas.openxmlformats.org/officeDocument/2006/relationships/extended-properties" Target="/docProps/app.xml" Id="R58fb6c22a5fd4e07" /><Relationship Type="http://schemas.openxmlformats.org/officeDocument/2006/relationships/officeDocument" Target="/ppt/presentation.xml" Id="R216f076a746b4f43" /></Relationships>
</file>

<file path=ppt/presentation.xml><?xml version="1.0" encoding="utf-8"?>
<p:presentation xmlns:p="http://schemas.openxmlformats.org/presentationml/2006/main">
  <p:sldMasterIdLst>
    <p:sldMasterId xmlns:r="http://schemas.openxmlformats.org/officeDocument/2006/relationships" id="2147483648" r:id="R236bfb1e617c409a"/>
  </p:sldMasterIdLst>
  <p:notesMasterIdLst>
    <p:notesMasterId xmlns:r="http://schemas.openxmlformats.org/officeDocument/2006/relationships" r:id="R97f890eb3e2a48fa"/>
  </p:notesMasterIdLst>
  <p:sldIdLst>
    <p:sldId xmlns:r="http://schemas.openxmlformats.org/officeDocument/2006/relationships" id="256" r:id="R977ce073e6eb4ee8"/>
    <p:sldId xmlns:r="http://schemas.openxmlformats.org/officeDocument/2006/relationships" id="257" r:id="Rbe84ef16c0d94b60"/>
    <p:sldId xmlns:r="http://schemas.openxmlformats.org/officeDocument/2006/relationships" id="258" r:id="Rce455c98a6d7418e"/>
    <p:sldId xmlns:r="http://schemas.openxmlformats.org/officeDocument/2006/relationships" id="259" r:id="R03b5b933800649b8"/>
    <p:sldId xmlns:r="http://schemas.openxmlformats.org/officeDocument/2006/relationships" id="260" r:id="R3a132ac85a864584"/>
    <p:sldId xmlns:r="http://schemas.openxmlformats.org/officeDocument/2006/relationships" id="261" r:id="R7d317829b6294f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17f50d3ad94167" /><Relationship Type="http://schemas.openxmlformats.org/officeDocument/2006/relationships/slideMaster" Target="/ppt/slideMasters/slideMaster1.xml" Id="R236bfb1e617c409a" /><Relationship Type="http://schemas.openxmlformats.org/officeDocument/2006/relationships/notesMaster" Target="/ppt/notesMasters/notesMaster1.xml" Id="R97f890eb3e2a48fa" /><Relationship Type="http://schemas.openxmlformats.org/officeDocument/2006/relationships/presProps" Target="/ppt/presProps.xml" Id="R3187876467e7443b" /><Relationship Type="http://schemas.openxmlformats.org/officeDocument/2006/relationships/tableStyles" Target="/ppt/tableStyles.xml" Id="R73e2a14b8cd54343" /><Relationship Type="http://schemas.openxmlformats.org/officeDocument/2006/relationships/slide" Target="/ppt/slides/slide1.xml" Id="R977ce073e6eb4ee8" /><Relationship Type="http://schemas.openxmlformats.org/officeDocument/2006/relationships/slide" Target="/ppt/slides/slide2.xml" Id="Rbe84ef16c0d94b60" /><Relationship Type="http://schemas.openxmlformats.org/officeDocument/2006/relationships/slide" Target="/ppt/slides/slide3.xml" Id="Rce455c98a6d7418e" /><Relationship Type="http://schemas.openxmlformats.org/officeDocument/2006/relationships/slide" Target="/ppt/slides/slide4.xml" Id="R03b5b933800649b8" /><Relationship Type="http://schemas.openxmlformats.org/officeDocument/2006/relationships/slide" Target="/ppt/slides/slide5.xml" Id="R3a132ac85a864584" /><Relationship Type="http://schemas.openxmlformats.org/officeDocument/2006/relationships/slide" Target="/ppt/slides/slide6.xml" Id="R7d317829b6294f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80f217a2a04d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65d89bf4864f36" /><Relationship Type="http://schemas.openxmlformats.org/officeDocument/2006/relationships/notesMaster" Target="/ppt/notesMasters/notesMaster1.xml" Id="R93c2d0b150434d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118af5a1e14021" /><Relationship Type="http://schemas.openxmlformats.org/officeDocument/2006/relationships/notesMaster" Target="/ppt/notesMasters/notesMaster1.xml" Id="Ra643d61303be40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57ff84fc294c0b" /><Relationship Type="http://schemas.openxmlformats.org/officeDocument/2006/relationships/notesMaster" Target="/ppt/notesMasters/notesMaster1.xml" Id="R55d4e7f67ac647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015befcabd4d58" /><Relationship Type="http://schemas.openxmlformats.org/officeDocument/2006/relationships/notesMaster" Target="/ppt/notesMasters/notesMaster1.xml" Id="R2fdb8e0b45d045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f0d794a99d4d25" /><Relationship Type="http://schemas.openxmlformats.org/officeDocument/2006/relationships/notesMaster" Target="/ppt/notesMasters/notesMaster1.xml" Id="R0d4fb5bfa0fd4a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8bb9336272449a" /><Relationship Type="http://schemas.openxmlformats.org/officeDocument/2006/relationships/notesMaster" Target="/ppt/notesMasters/notesMaster1.xml" Id="R171825a79c7444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Tên đầy đủ: Xây dựng hệ thống thu thập và phân tích mối quan hệ giữa lợi nhuận, dòng tiền và cổ tức tiền mặt của doanh nghiệp niêm yết Việt Nam. Project thu thập, kiểm định, phân tích mô tả; dự đoán dành cho tốt nghiệp. Định hướng được người thực hiện chọn, chưa thay phê duyệt của giảng viên.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dùng dataset có sẵn làm nguồn demo chính. Discovery thông báo chưa hoàn chỉnh, phải thử gate tuần 2. URL nhập hỗ trợ được ghi riêng. Policy nguồn chưa rõ thì mặc định pending/skip. Nguồn: docs/research-platform/11-phuong-phap-thu-thap-va-xu-ly.md.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PDF là FY2025/H1-2026, không phải chín PDF pilot đã hoàn thành. 96 trang đầu được pypdf probe không có trang trên 100 ký tự text. OCR development 11/12 chưa là benchmark độc lập. Sáu trường: LNST toàn doanh nghiệp, CFO, tiền và tương đương tiền, tài sản, nợ phải trả, vốn chủ. Phải thêm cấu hình 2023–24, discovery cổ tức, SQLite/review/UI. Nguồn: docs/research-crawl-methods/crawl-evidence.json; docs/research-platform/02-de-tai-va-srs.md.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Annual announced DPS cần closure reviewed complete as of snapshot; observed DPS có thể partial. Không nhân DPS với số cổ phiếu cuối năm rồi gọi thực chi. Scope hợp nhất/riêng và đơn vị phải cùng series; CFO/LNST chỉ khi LNST dương. Không suy nhân quả từ Spearman trong mẫu nhỏ và nhiều năm cùng doanh nghiệp. Nguồn: docs/research-platform/12-kien-thuc-tai-chinh-va-tu-dien.md; 13-ghep-co-tuc-va-phan-tich.md; https://vsdc.vn/vi/ad1/187729.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11h×13=143h: học2.5, làm5, kiểm tra1, báo cáo/luyện nói1.5, dự phòng1 mỗi tuần. Gate tuần2 thử discovery, tuần4 scope, tuần8 freeze holdout, tuần11 feature freeze. Mỗi tuần tự tính một ví dụ hoặc giải thích một đoạn code. Lịch tính từ bắt đầu thật; phải điều chỉnh nếu hạn học kỳ ngắn. Nguồn: docs/research-platform/04-ke-hoach-13-tuan.md; 05-lo-trinh-hoc.md; 07-bao-cao-hang-tuan.md. Báo cáo mới: sáu đợt tuần2/4/6/8/10/12; tổng kết tuần13. Word3–5trang,6–8slide,8–10phút. Nhật ký mỗi tuần, bình quân1.5h/tuần gồm log0.5h và formal2h/cặp tuần.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Hướng dự đoán ưu tiên DPS công bố 12 tháng sau cutoff BCTC có sẵn, so với cửa sổ trước. Chưa chốt ngưỡng giảm. Unknown/censored/basis và ngày sẵn có phải được xử lý. Cửa sổ FY2025 công bố03/2026 chưa đủ12tháng tại03/10/2026. Không phải kế hoạch ML hiện tại. Nguồn: docs/research-platform/06-danh-gia-va-nghiem-thu.md; 09-lien-thong-tot-nghiep.md.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60b314d3ec4b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3a8cc56ed64591" /><Relationship Type="http://schemas.openxmlformats.org/officeDocument/2006/relationships/slideLayout" Target="/ppt/slideLayouts/slideLayout1.xml" Id="R855b10c54c2d43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5b10c54c2d43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7b05bac1be4287" /><Relationship Type="http://schemas.openxmlformats.org/officeDocument/2006/relationships/notesSlide" Target="/ppt/notesSlides/notesSlide1.xml" Id="Rd932516075fb44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8bae8765d64ccf" /><Relationship Type="http://schemas.openxmlformats.org/officeDocument/2006/relationships/notesSlide" Target="/ppt/notesSlides/notesSlide2.xml" Id="R66db671d2b9d41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8da2316ef74ffc" /><Relationship Type="http://schemas.openxmlformats.org/officeDocument/2006/relationships/notesSlide" Target="/ppt/notesSlides/notesSlide3.xml" Id="R9401afe6bddb40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8ffdee77b044e5" /><Relationship Type="http://schemas.openxmlformats.org/officeDocument/2006/relationships/notesSlide" Target="/ppt/notesSlides/notesSlide4.xml" Id="R5e1bab09d4eb4f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57c061131c4174" /><Relationship Type="http://schemas.openxmlformats.org/officeDocument/2006/relationships/notesSlide" Target="/ppt/notesSlides/notesSlide5.xml" Id="Re052a894d17843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b24f984a6b4f2e" /><Relationship Type="http://schemas.openxmlformats.org/officeDocument/2006/relationships/notesSlide" Target="/ppt/notesSlides/notesSlide6.xml" Id="R8430b2e5168246e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5C45A30-3B96-49B0-8F43-BE8231445012}"/>
              </a:ext>
            </a:extLst>
          </p:cNvPr>
          <p:cNvSpPr>
            <a:spLocks xmlns:a="http://schemas.openxmlformats.org/drawingml/2006/main" noGrp="1"/>
          </p:cNvSpPr>
          <p:nvPr/>
        </p:nvSpPr>
        <p:spPr>
          <a:xfrm xmlns:a="http://schemas.openxmlformats.org/drawingml/2006/main">
            <a:off x="685800" y="1333500"/>
            <a:ext cx="108204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200" b="1">
                <a:solidFill>
                  <a:srgbClr val="152F43"/>
                </a:solidFill>
                <a:latin typeface="Arial"/>
                <a:ea typeface="Arial"/>
                <a:cs typeface="Arial"/>
              </a:defRPr>
            </a:pPr>
            <a:r>
              <a:rPr sz="4200" b="1">
                <a:solidFill>
                  <a:srgbClr val="152F43"/>
                </a:solidFill>
                <a:latin typeface="Arial"/>
                <a:ea typeface="Arial"/>
                <a:cs typeface="Arial"/>
              </a:rPr>
              <a:t>Lợi nhuận dòng tiền</a:t>
            </a:r>
          </a:p>
          <a:p xmlns:a="http://schemas.openxmlformats.org/drawingml/2006/main">
            <a:pPr>
              <a:buNone/>
              <a:defRPr sz="4200" b="1">
                <a:solidFill>
                  <a:srgbClr val="152F43"/>
                </a:solidFill>
                <a:latin typeface="Arial"/>
                <a:ea typeface="Arial"/>
                <a:cs typeface="Arial"/>
              </a:defRPr>
            </a:pPr>
            <a:r>
              <a:rPr sz="4200" b="1">
                <a:solidFill>
                  <a:srgbClr val="152F43"/>
                </a:solidFill>
                <a:latin typeface="Arial"/>
                <a:ea typeface="Arial"/>
                <a:cs typeface="Arial"/>
              </a:rPr>
              <a:t>và cổ tức tiền mặt</a:t>
            </a:r>
          </a:p>
        </p:txBody>
      </p:sp>
      <p:sp>
        <p:nvSpPr>
          <p:cNvPr id="2" name="">
            <a:extLst xmlns:a="http://schemas.openxmlformats.org/drawingml/2006/main">
              <a:ext uri="{FF2B5EF4-FFF2-40B4-BE49-F238E27FC236}">
                <a16:creationId xmlns:a16="http://schemas.microsoft.com/office/drawing/2014/main" id="{F5EE1A01-4480-4611-83A4-4435A238D4A9}"/>
              </a:ext>
            </a:extLst>
          </p:cNvPr>
          <p:cNvSpPr>
            <a:spLocks xmlns:a="http://schemas.openxmlformats.org/drawingml/2006/main" noGrp="1"/>
          </p:cNvSpPr>
          <p:nvPr/>
        </p:nvSpPr>
        <p:spPr>
          <a:xfrm xmlns:a="http://schemas.openxmlformats.org/drawingml/2006/main">
            <a:off x="685800" y="3476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52F43"/>
                </a:solidFill>
                <a:latin typeface="Arial"/>
                <a:ea typeface="Arial"/>
                <a:cs typeface="Arial"/>
              </a:defRPr>
            </a:pPr>
            <a:r>
              <a:rPr sz="2400" b="0">
                <a:solidFill>
                  <a:srgbClr val="152F43"/>
                </a:solidFill>
                <a:latin typeface="Arial"/>
                <a:ea typeface="Arial"/>
                <a:cs typeface="Arial"/>
              </a:rPr>
              <a:t>Thu thập dữ liệu và phân tích mối quan hệ</a:t>
            </a:r>
          </a:p>
        </p:txBody>
      </p:sp>
      <p:sp>
        <p:nvSpPr>
          <p:cNvPr id="3" name="">
            <a:extLst xmlns:a="http://schemas.openxmlformats.org/drawingml/2006/main">
              <a:ext uri="{FF2B5EF4-FFF2-40B4-BE49-F238E27FC236}">
                <a16:creationId xmlns:a16="http://schemas.microsoft.com/office/drawing/2014/main" id="{FB646D2D-7FF1-4EE9-9BD7-BDBB0A45C777}"/>
              </a:ext>
            </a:extLst>
          </p:cNvPr>
          <p:cNvSpPr>
            <a:spLocks xmlns:a="http://schemas.openxmlformats.org/drawingml/2006/main" noGrp="1"/>
          </p:cNvSpPr>
          <p:nvPr/>
        </p:nvSpPr>
        <p:spPr>
          <a:xfrm xmlns:a="http://schemas.openxmlformats.org/drawingml/2006/main">
            <a:off x="685800" y="4810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471"/>
                </a:solidFill>
                <a:latin typeface="Arial"/>
                <a:ea typeface="Arial"/>
                <a:cs typeface="Arial"/>
              </a:defRPr>
            </a:pPr>
            <a:r>
              <a:rPr sz="1875" b="0">
                <a:solidFill>
                  <a:srgbClr val="536471"/>
                </a:solidFill>
                <a:latin typeface="Arial"/>
                <a:ea typeface="Arial"/>
                <a:cs typeface="Arial"/>
              </a:rPr>
              <a:t>Định hướng đã lựa chọn ngày 03 tháng 10 năm 2026</a:t>
            </a:r>
          </a:p>
        </p:txBody>
      </p:sp>
    </p:spTree>
    <p:extLst>
      <p:ext uri="{BB962C8B-B14F-4D97-AF65-F5344CB8AC3E}">
        <p14:creationId xmlns:p14="http://schemas.microsoft.com/office/powerpoint/2010/main" val="9540565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4A1300-EFB9-4CBA-931B-E0C911FED323}"/>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52F43"/>
                </a:solidFill>
                <a:latin typeface="Arial"/>
                <a:ea typeface="Arial"/>
                <a:cs typeface="Arial"/>
              </a:defRPr>
            </a:pPr>
            <a:r>
              <a:rPr sz="3300" b="1">
                <a:solidFill>
                  <a:srgbClr val="152F43"/>
                </a:solidFill>
                <a:latin typeface="Arial"/>
                <a:ea typeface="Arial"/>
                <a:cs typeface="Arial"/>
              </a:rPr>
              <a:t>Phương pháp dữ liệu thống nhất</a:t>
            </a:r>
          </a:p>
        </p:txBody>
      </p:sp>
      <p:sp>
        <p:nvSpPr>
          <p:cNvPr id="2" name="">
            <a:extLst xmlns:a="http://schemas.openxmlformats.org/drawingml/2006/main">
              <a:ext uri="{FF2B5EF4-FFF2-40B4-BE49-F238E27FC236}">
                <a16:creationId xmlns:a16="http://schemas.microsoft.com/office/drawing/2014/main" id="{511C1294-EC38-428D-A356-BBA4BEFC83F1}"/>
              </a:ext>
            </a:extLst>
          </p:cNvPr>
          <p:cNvSpPr>
            <a:spLocks xmlns:a="http://schemas.openxmlformats.org/drawingml/2006/main" noGrp="1"/>
          </p:cNvSpPr>
          <p:nvPr/>
        </p:nvSpPr>
        <p:spPr>
          <a:xfrm xmlns:a="http://schemas.openxmlformats.org/drawingml/2006/main">
            <a:off x="685800" y="14287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52F43"/>
                </a:solidFill>
                <a:latin typeface="Arial"/>
                <a:ea typeface="Arial"/>
                <a:cs typeface="Arial"/>
              </a:defRPr>
            </a:pPr>
            <a:r>
              <a:rPr sz="2100" b="1">
                <a:solidFill>
                  <a:srgbClr val="152F43"/>
                </a:solidFill>
                <a:latin typeface="Arial"/>
                <a:ea typeface="Arial"/>
                <a:cs typeface="Arial"/>
              </a:rPr>
              <a:t>Nguồn: IR cho BCTC; VSDC và IR cho cổ tức</a:t>
            </a:r>
          </a:p>
        </p:txBody>
      </p:sp>
      <p:sp>
        <p:nvSpPr>
          <p:cNvPr id="3" name="">
            <a:extLst xmlns:a="http://schemas.openxmlformats.org/drawingml/2006/main">
              <a:ext uri="{FF2B5EF4-FFF2-40B4-BE49-F238E27FC236}">
                <a16:creationId xmlns:a16="http://schemas.microsoft.com/office/drawing/2014/main" id="{ED08270E-9ED3-40F1-87FD-6E5C7CC8214C}"/>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F43"/>
                </a:solidFill>
                <a:latin typeface="Arial"/>
                <a:ea typeface="Arial"/>
                <a:cs typeface="Arial"/>
              </a:defRPr>
            </a:pPr>
            <a:r>
              <a:rPr sz="2100" b="0">
                <a:solidFill>
                  <a:srgbClr val="152F43"/>
                </a:solidFill>
                <a:latin typeface="Arial"/>
                <a:ea typeface="Arial"/>
                <a:cs typeface="Arial"/>
              </a:rPr>
              <a:t>Python HTTP và lxml tự tìm danh mục và thông báo</a:t>
            </a:r>
          </a:p>
        </p:txBody>
      </p:sp>
      <p:sp>
        <p:nvSpPr>
          <p:cNvPr id="4" name="">
            <a:extLst xmlns:a="http://schemas.openxmlformats.org/drawingml/2006/main">
              <a:ext uri="{FF2B5EF4-FFF2-40B4-BE49-F238E27FC236}">
                <a16:creationId xmlns:a16="http://schemas.microsoft.com/office/drawing/2014/main" id="{7F142162-B776-4BFD-B272-0F490D29E7D9}"/>
              </a:ext>
            </a:extLst>
          </p:cNvPr>
          <p:cNvSpPr>
            <a:spLocks xmlns:a="http://schemas.openxmlformats.org/drawingml/2006/main" noGrp="1"/>
          </p:cNvSpPr>
          <p:nvPr/>
        </p:nvSpPr>
        <p:spPr>
          <a:xfrm xmlns:a="http://schemas.openxmlformats.org/drawingml/2006/main">
            <a:off x="685800" y="25717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F43"/>
                </a:solidFill>
                <a:latin typeface="Arial"/>
                <a:ea typeface="Arial"/>
                <a:cs typeface="Arial"/>
              </a:defRPr>
            </a:pPr>
            <a:r>
              <a:rPr sz="2100" b="0">
                <a:solidFill>
                  <a:srgbClr val="152F43"/>
                </a:solidFill>
                <a:latin typeface="Arial"/>
                <a:ea typeface="Arial"/>
                <a:cs typeface="Arial"/>
              </a:rPr>
              <a:t>Lưu raw, URL, hash và phiên bản; kiểm tra tải lặp</a:t>
            </a:r>
          </a:p>
        </p:txBody>
      </p:sp>
      <p:sp>
        <p:nvSpPr>
          <p:cNvPr id="5" name="">
            <a:extLst xmlns:a="http://schemas.openxmlformats.org/drawingml/2006/main">
              <a:ext uri="{FF2B5EF4-FFF2-40B4-BE49-F238E27FC236}">
                <a16:creationId xmlns:a16="http://schemas.microsoft.com/office/drawing/2014/main" id="{E22417B3-B8E9-4F7C-8267-809FD932D14E}"/>
              </a:ext>
            </a:extLst>
          </p:cNvPr>
          <p:cNvSpPr>
            <a:spLocks xmlns:a="http://schemas.openxmlformats.org/drawingml/2006/main" noGrp="1"/>
          </p:cNvSpPr>
          <p:nvPr/>
        </p:nvSpPr>
        <p:spPr>
          <a:xfrm xmlns:a="http://schemas.openxmlformats.org/drawingml/2006/main">
            <a:off x="685800" y="3143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F43"/>
                </a:solidFill>
                <a:latin typeface="Arial"/>
                <a:ea typeface="Arial"/>
                <a:cs typeface="Arial"/>
              </a:defRPr>
            </a:pPr>
            <a:r>
              <a:rPr sz="2100" b="0">
                <a:solidFill>
                  <a:srgbClr val="152F43"/>
                </a:solidFill>
                <a:latin typeface="Arial"/>
                <a:ea typeface="Arial"/>
                <a:cs typeface="Arial"/>
              </a:rPr>
              <a:t>PDF text trước; OCR vie + eng khi cần</a:t>
            </a:r>
          </a:p>
        </p:txBody>
      </p:sp>
      <p:sp>
        <p:nvSpPr>
          <p:cNvPr id="6" name="">
            <a:extLst xmlns:a="http://schemas.openxmlformats.org/drawingml/2006/main">
              <a:ext uri="{FF2B5EF4-FFF2-40B4-BE49-F238E27FC236}">
                <a16:creationId xmlns:a16="http://schemas.microsoft.com/office/drawing/2014/main" id="{DEDC6D9B-0D16-480C-8BEE-DBF2B244D541}"/>
              </a:ext>
            </a:extLst>
          </p:cNvPr>
          <p:cNvSpPr>
            <a:spLocks xmlns:a="http://schemas.openxmlformats.org/drawingml/2006/main" noGrp="1"/>
          </p:cNvSpPr>
          <p:nvPr/>
        </p:nvSpPr>
        <p:spPr>
          <a:xfrm xmlns:a="http://schemas.openxmlformats.org/drawingml/2006/main">
            <a:off x="685800" y="37147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F43"/>
                </a:solidFill>
                <a:latin typeface="Arial"/>
                <a:ea typeface="Arial"/>
                <a:cs typeface="Arial"/>
              </a:defRPr>
            </a:pPr>
            <a:r>
              <a:rPr sz="2100" b="0">
                <a:solidFill>
                  <a:srgbClr val="152F43"/>
                </a:solidFill>
                <a:latin typeface="Arial"/>
                <a:ea typeface="Arial"/>
                <a:cs typeface="Arial"/>
              </a:rPr>
              <a:t>Tách thông báo chính thành sự kiện và năm lợi nhuận</a:t>
            </a:r>
          </a:p>
        </p:txBody>
      </p:sp>
      <p:sp>
        <p:nvSpPr>
          <p:cNvPr id="7" name="">
            <a:extLst xmlns:a="http://schemas.openxmlformats.org/drawingml/2006/main">
              <a:ext uri="{FF2B5EF4-FFF2-40B4-BE49-F238E27FC236}">
                <a16:creationId xmlns:a16="http://schemas.microsoft.com/office/drawing/2014/main" id="{8E9EF7CC-D8F7-40A9-93FE-E5DD2071D9C3}"/>
              </a:ext>
            </a:extLst>
          </p:cNvPr>
          <p:cNvSpPr>
            <a:spLocks xmlns:a="http://schemas.openxmlformats.org/drawingml/2006/main" noGrp="1"/>
          </p:cNvSpPr>
          <p:nvPr/>
        </p:nvSpPr>
        <p:spPr>
          <a:xfrm xmlns:a="http://schemas.openxmlformats.org/drawingml/2006/main">
            <a:off x="685800" y="4286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F43"/>
                </a:solidFill>
                <a:latin typeface="Arial"/>
                <a:ea typeface="Arial"/>
                <a:cs typeface="Arial"/>
              </a:defRPr>
            </a:pPr>
            <a:r>
              <a:rPr sz="2100" b="0">
                <a:solidFill>
                  <a:srgbClr val="152F43"/>
                </a:solidFill>
                <a:latin typeface="Arial"/>
                <a:ea typeface="Arial"/>
                <a:cs typeface="Arial"/>
              </a:rPr>
              <a:t>Kiểm định, review và audit trong SQLite</a:t>
            </a:r>
          </a:p>
        </p:txBody>
      </p:sp>
      <p:sp>
        <p:nvSpPr>
          <p:cNvPr id="8" name="">
            <a:extLst xmlns:a="http://schemas.openxmlformats.org/drawingml/2006/main">
              <a:ext uri="{FF2B5EF4-FFF2-40B4-BE49-F238E27FC236}">
                <a16:creationId xmlns:a16="http://schemas.microsoft.com/office/drawing/2014/main" id="{96377E40-8A32-4614-A2D1-E36831F2D80D}"/>
              </a:ext>
            </a:extLst>
          </p:cNvPr>
          <p:cNvSpPr>
            <a:spLocks xmlns:a="http://schemas.openxmlformats.org/drawingml/2006/main" noGrp="1"/>
          </p:cNvSpPr>
          <p:nvPr/>
        </p:nvSpPr>
        <p:spPr>
          <a:xfrm xmlns:a="http://schemas.openxmlformats.org/drawingml/2006/main">
            <a:off x="685800" y="48577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F43"/>
                </a:solidFill>
                <a:latin typeface="Arial"/>
                <a:ea typeface="Arial"/>
                <a:cs typeface="Arial"/>
              </a:defRPr>
            </a:pPr>
            <a:r>
              <a:rPr sz="2100" b="0">
                <a:solidFill>
                  <a:srgbClr val="152F43"/>
                </a:solidFill>
                <a:latin typeface="Arial"/>
                <a:ea typeface="Arial"/>
                <a:cs typeface="Arial"/>
              </a:rPr>
              <a:t>Snapshot theo năm; timeline và phân tích bằng Streamlit</a:t>
            </a:r>
          </a:p>
        </p:txBody>
      </p:sp>
    </p:spTree>
    <p:extLst>
      <p:ext uri="{BB962C8B-B14F-4D97-AF65-F5344CB8AC3E}">
        <p14:creationId xmlns:p14="http://schemas.microsoft.com/office/powerpoint/2010/main" val="18405575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E9E80D-82C6-4B41-997A-8758F1AC7C10}"/>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52F43"/>
                </a:solidFill>
                <a:latin typeface="Arial"/>
                <a:ea typeface="Arial"/>
                <a:cs typeface="Arial"/>
              </a:defRPr>
            </a:pPr>
            <a:r>
              <a:rPr sz="3300" b="1">
                <a:solidFill>
                  <a:srgbClr val="152F43"/>
                </a:solidFill>
                <a:latin typeface="Arial"/>
                <a:ea typeface="Arial"/>
                <a:cs typeface="Arial"/>
              </a:rPr>
              <a:t>Phạm vi và bằng chứng hiện có</a:t>
            </a:r>
          </a:p>
        </p:txBody>
      </p:sp>
      <p:sp>
        <p:nvSpPr>
          <p:cNvPr id="2" name="">
            <a:extLst xmlns:a="http://schemas.openxmlformats.org/drawingml/2006/main">
              <a:ext uri="{FF2B5EF4-FFF2-40B4-BE49-F238E27FC236}">
                <a16:creationId xmlns:a16="http://schemas.microsoft.com/office/drawing/2014/main" id="{BADA851A-B8E0-4EF9-8D78-829A43CAA714}"/>
              </a:ext>
            </a:extLst>
          </p:cNvPr>
          <p:cNvSpPr>
            <a:spLocks xmlns:a="http://schemas.openxmlformats.org/drawingml/2006/main" noGrp="1"/>
          </p:cNvSpPr>
          <p:nvPr/>
        </p:nvSpPr>
        <p:spPr>
          <a:xfrm xmlns:a="http://schemas.openxmlformats.org/drawingml/2006/main">
            <a:off x="685800" y="1562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Đã tự tải 8 PDF của 4 công ty, tổng 423 trang</a:t>
            </a:r>
          </a:p>
        </p:txBody>
      </p:sp>
      <p:sp>
        <p:nvSpPr>
          <p:cNvPr id="3" name="">
            <a:extLst xmlns:a="http://schemas.openxmlformats.org/drawingml/2006/main">
              <a:ext uri="{FF2B5EF4-FFF2-40B4-BE49-F238E27FC236}">
                <a16:creationId xmlns:a16="http://schemas.microsoft.com/office/drawing/2014/main" id="{17736D0B-EEAA-4D56-970A-DE7BBC17723D}"/>
              </a:ext>
            </a:extLst>
          </p:cNvPr>
          <p:cNvSpPr>
            <a:spLocks xmlns:a="http://schemas.openxmlformats.org/drawingml/2006/main" noGrp="1"/>
          </p:cNvSpPr>
          <p:nvPr/>
        </p:nvSpPr>
        <p:spPr>
          <a:xfrm xmlns:a="http://schemas.openxmlformats.org/drawingml/2006/main">
            <a:off x="685800" y="21907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Chạy lại: 8 HTTP 304; kho không thêm bản trùng</a:t>
            </a:r>
          </a:p>
        </p:txBody>
      </p:sp>
      <p:sp>
        <p:nvSpPr>
          <p:cNvPr id="4" name="">
            <a:extLst xmlns:a="http://schemas.openxmlformats.org/drawingml/2006/main">
              <a:ext uri="{FF2B5EF4-FFF2-40B4-BE49-F238E27FC236}">
                <a16:creationId xmlns:a16="http://schemas.microsoft.com/office/drawing/2014/main" id="{EBF69E4D-F211-44D3-9BD3-4B66DAE281E3}"/>
              </a:ext>
            </a:extLst>
          </p:cNvPr>
          <p:cNvSpPr>
            <a:spLocks xmlns:a="http://schemas.openxmlformats.org/drawingml/2006/main" noGrp="1"/>
          </p:cNvSpPr>
          <p:nvPr/>
        </p:nvSpPr>
        <p:spPr>
          <a:xfrm xmlns:a="http://schemas.openxmlformats.org/drawingml/2006/main">
            <a:off x="685800" y="28194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4 thông báo cổ tức mẫu; lịch sử chưa đầy đủ</a:t>
            </a:r>
          </a:p>
        </p:txBody>
      </p:sp>
      <p:sp>
        <p:nvSpPr>
          <p:cNvPr id="5" name="">
            <a:extLst xmlns:a="http://schemas.openxmlformats.org/drawingml/2006/main">
              <a:ext uri="{FF2B5EF4-FFF2-40B4-BE49-F238E27FC236}">
                <a16:creationId xmlns:a16="http://schemas.microsoft.com/office/drawing/2014/main" id="{53610D0D-A829-4E6C-98DA-EF5447253785}"/>
              </a:ext>
            </a:extLst>
          </p:cNvPr>
          <p:cNvSpPr>
            <a:spLocks xmlns:a="http://schemas.openxmlformats.org/drawingml/2006/main" noGrp="1"/>
          </p:cNvSpPr>
          <p:nvPr/>
        </p:nvSpPr>
        <p:spPr>
          <a:xfrm xmlns:a="http://schemas.openxmlformats.org/drawingml/2006/main">
            <a:off x="685800" y="34480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6 chỉ tiêu tài chính lõi; cổ tức tiền mặt công bố</a:t>
            </a:r>
          </a:p>
        </p:txBody>
      </p:sp>
      <p:sp>
        <p:nvSpPr>
          <p:cNvPr id="6" name="">
            <a:extLst xmlns:a="http://schemas.openxmlformats.org/drawingml/2006/main">
              <a:ext uri="{FF2B5EF4-FFF2-40B4-BE49-F238E27FC236}">
                <a16:creationId xmlns:a16="http://schemas.microsoft.com/office/drawing/2014/main" id="{5C764A24-9628-4600-AD2C-4F0A5B7C79FD}"/>
              </a:ext>
            </a:extLst>
          </p:cNvPr>
          <p:cNvSpPr>
            <a:spLocks xmlns:a="http://schemas.openxmlformats.org/drawingml/2006/main" noGrp="1"/>
          </p:cNvSpPr>
          <p:nvPr/>
        </p:nvSpPr>
        <p:spPr>
          <a:xfrm xmlns:a="http://schemas.openxmlformats.org/drawingml/2006/main">
            <a:off x="685800" y="40767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Pilot: 3 công ty × 2023–2025 và sự kiện liên quan</a:t>
            </a:r>
          </a:p>
        </p:txBody>
      </p:sp>
      <p:sp>
        <p:nvSpPr>
          <p:cNvPr id="7" name="">
            <a:extLst xmlns:a="http://schemas.openxmlformats.org/drawingml/2006/main">
              <a:ext uri="{FF2B5EF4-FFF2-40B4-BE49-F238E27FC236}">
                <a16:creationId xmlns:a16="http://schemas.microsoft.com/office/drawing/2014/main" id="{261B14FA-AF33-48F4-AD55-1804824D71C2}"/>
              </a:ext>
            </a:extLst>
          </p:cNvPr>
          <p:cNvSpPr>
            <a:spLocks xmlns:a="http://schemas.openxmlformats.org/drawingml/2006/main" noGrp="1"/>
          </p:cNvSpPr>
          <p:nvPr/>
        </p:nvSpPr>
        <p:spPr>
          <a:xfrm xmlns:a="http://schemas.openxmlformats.org/drawingml/2006/main">
            <a:off x="685800" y="47053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Gate tuần 4: mở rộng 5–8 công ty theo công sức</a:t>
            </a:r>
          </a:p>
        </p:txBody>
      </p:sp>
    </p:spTree>
    <p:extLst>
      <p:ext uri="{BB962C8B-B14F-4D97-AF65-F5344CB8AC3E}">
        <p14:creationId xmlns:p14="http://schemas.microsoft.com/office/powerpoint/2010/main" val="11666729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4455BA-C1AF-40BB-9738-0C00850B8736}"/>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52F43"/>
                </a:solidFill>
                <a:latin typeface="Arial"/>
                <a:ea typeface="Arial"/>
                <a:cs typeface="Arial"/>
              </a:defRPr>
            </a:pPr>
            <a:r>
              <a:rPr sz="3300" b="1">
                <a:solidFill>
                  <a:srgbClr val="152F43"/>
                </a:solidFill>
                <a:latin typeface="Arial"/>
                <a:ea typeface="Arial"/>
                <a:cs typeface="Arial"/>
              </a:rPr>
              <a:t>Quy tắc ghép và kiểm định</a:t>
            </a:r>
          </a:p>
        </p:txBody>
      </p:sp>
      <p:sp>
        <p:nvSpPr>
          <p:cNvPr id="2" name="">
            <a:extLst xmlns:a="http://schemas.openxmlformats.org/drawingml/2006/main">
              <a:ext uri="{FF2B5EF4-FFF2-40B4-BE49-F238E27FC236}">
                <a16:creationId xmlns:a16="http://schemas.microsoft.com/office/drawing/2014/main" id="{E87C5D29-A527-4753-AB1E-1BE44DC6B7B1}"/>
              </a:ext>
            </a:extLst>
          </p:cNvPr>
          <p:cNvSpPr>
            <a:spLocks xmlns:a="http://schemas.openxmlformats.org/drawingml/2006/main" noGrp="1"/>
          </p:cNvSpPr>
          <p:nvPr/>
        </p:nvSpPr>
        <p:spPr>
          <a:xfrm xmlns:a="http://schemas.openxmlformats.org/drawingml/2006/main">
            <a:off x="685800" y="1562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DPS công bố; ngày dự kiến không chứng minh thực trả</a:t>
            </a:r>
          </a:p>
        </p:txBody>
      </p:sp>
      <p:sp>
        <p:nvSpPr>
          <p:cNvPr id="3" name="">
            <a:extLst xmlns:a="http://schemas.openxmlformats.org/drawingml/2006/main">
              <a:ext uri="{FF2B5EF4-FFF2-40B4-BE49-F238E27FC236}">
                <a16:creationId xmlns:a16="http://schemas.microsoft.com/office/drawing/2014/main" id="{15AD1163-75BE-4E32-8AB2-40C0E20B2207}"/>
              </a:ext>
            </a:extLst>
          </p:cNvPr>
          <p:cNvSpPr>
            <a:spLocks xmlns:a="http://schemas.openxmlformats.org/drawingml/2006/main" noGrp="1"/>
          </p:cNvSpPr>
          <p:nvPr/>
        </p:nvSpPr>
        <p:spPr>
          <a:xfrm xmlns:a="http://schemas.openxmlformats.org/drawingml/2006/main">
            <a:off x="685800" y="21907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Năm lợi nhuận khác năm công bố hoặc thanh toán</a:t>
            </a:r>
          </a:p>
        </p:txBody>
      </p:sp>
      <p:sp>
        <p:nvSpPr>
          <p:cNvPr id="4" name="">
            <a:extLst xmlns:a="http://schemas.openxmlformats.org/drawingml/2006/main">
              <a:ext uri="{FF2B5EF4-FFF2-40B4-BE49-F238E27FC236}">
                <a16:creationId xmlns:a16="http://schemas.microsoft.com/office/drawing/2014/main" id="{CCD45E76-D9A0-41BB-B330-5DEEC6930396}"/>
              </a:ext>
            </a:extLst>
          </p:cNvPr>
          <p:cNvSpPr>
            <a:spLocks xmlns:a="http://schemas.openxmlformats.org/drawingml/2006/main" noGrp="1"/>
          </p:cNvSpPr>
          <p:nvPr/>
        </p:nvSpPr>
        <p:spPr>
          <a:xfrm xmlns:a="http://schemas.openxmlformats.org/drawingml/2006/main">
            <a:off x="685800" y="28194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Tách nhiều năm; xử lý trùng, sửa và hủy thông báo</a:t>
            </a:r>
          </a:p>
        </p:txBody>
      </p:sp>
      <p:sp>
        <p:nvSpPr>
          <p:cNvPr id="5" name="">
            <a:extLst xmlns:a="http://schemas.openxmlformats.org/drawingml/2006/main">
              <a:ext uri="{FF2B5EF4-FFF2-40B4-BE49-F238E27FC236}">
                <a16:creationId xmlns:a16="http://schemas.microsoft.com/office/drawing/2014/main" id="{AB3CD69E-6E41-407B-BFC6-018FAE1CDD6D}"/>
              </a:ext>
            </a:extLst>
          </p:cNvPr>
          <p:cNvSpPr>
            <a:spLocks xmlns:a="http://schemas.openxmlformats.org/drawingml/2006/main" noGrp="1"/>
          </p:cNvSpPr>
          <p:nvPr/>
        </p:nvSpPr>
        <p:spPr>
          <a:xfrm xmlns:a="http://schemas.openxmlformats.org/drawingml/2006/main">
            <a:off x="685800" y="34480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Coverage thiếu hoặc chưa rõ không được gán bằng 0</a:t>
            </a:r>
          </a:p>
        </p:txBody>
      </p:sp>
      <p:sp>
        <p:nvSpPr>
          <p:cNvPr id="6" name="">
            <a:extLst xmlns:a="http://schemas.openxmlformats.org/drawingml/2006/main">
              <a:ext uri="{FF2B5EF4-FFF2-40B4-BE49-F238E27FC236}">
                <a16:creationId xmlns:a16="http://schemas.microsoft.com/office/drawing/2014/main" id="{BEE15860-1661-401C-99D4-8E32236F4B47}"/>
              </a:ext>
            </a:extLst>
          </p:cNvPr>
          <p:cNvSpPr>
            <a:spLocks xmlns:a="http://schemas.openxmlformats.org/drawingml/2006/main" noGrp="1"/>
          </p:cNvSpPr>
          <p:nvPr/>
        </p:nvSpPr>
        <p:spPr>
          <a:xfrm xmlns:a="http://schemas.openxmlformats.org/drawingml/2006/main">
            <a:off x="685800" y="40767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Khác cơ sở cổ phiếu: xác minh trước khi cộng DPS</a:t>
            </a:r>
          </a:p>
        </p:txBody>
      </p:sp>
      <p:sp>
        <p:nvSpPr>
          <p:cNvPr id="7" name="">
            <a:extLst xmlns:a="http://schemas.openxmlformats.org/drawingml/2006/main">
              <a:ext uri="{FF2B5EF4-FFF2-40B4-BE49-F238E27FC236}">
                <a16:creationId xmlns:a16="http://schemas.microsoft.com/office/drawing/2014/main" id="{7CE1844E-8EEE-45EC-A534-2845821C2F7E}"/>
              </a:ext>
            </a:extLst>
          </p:cNvPr>
          <p:cNvSpPr>
            <a:spLocks xmlns:a="http://schemas.openxmlformats.org/drawingml/2006/main" noGrp="1"/>
          </p:cNvSpPr>
          <p:nvPr/>
        </p:nvSpPr>
        <p:spPr>
          <a:xfrm xmlns:a="http://schemas.openxmlformats.org/drawingml/2006/main">
            <a:off x="685800" y="47053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Mỗi kết quả có nguồn; mẫu nhỏ chỉ phân tích mô tả</a:t>
            </a:r>
          </a:p>
        </p:txBody>
      </p:sp>
    </p:spTree>
    <p:extLst>
      <p:ext uri="{BB962C8B-B14F-4D97-AF65-F5344CB8AC3E}">
        <p14:creationId xmlns:p14="http://schemas.microsoft.com/office/powerpoint/2010/main" val="19021772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453596-01BD-4BA8-8971-6B59431ED183}"/>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52F43"/>
                </a:solidFill>
                <a:latin typeface="Arial"/>
                <a:ea typeface="Arial"/>
                <a:cs typeface="Arial"/>
              </a:defRPr>
            </a:pPr>
            <a:r>
              <a:rPr sz="3300" b="1">
                <a:solidFill>
                  <a:srgbClr val="152F43"/>
                </a:solidFill>
                <a:latin typeface="Arial"/>
                <a:ea typeface="Arial"/>
                <a:cs typeface="Arial"/>
              </a:rPr>
              <a:t>13 tuần học gắn với triển khai</a:t>
            </a:r>
          </a:p>
        </p:txBody>
      </p:sp>
      <p:sp>
        <p:nvSpPr>
          <p:cNvPr id="2" name="">
            <a:extLst xmlns:a="http://schemas.openxmlformats.org/drawingml/2006/main">
              <a:ext uri="{FF2B5EF4-FFF2-40B4-BE49-F238E27FC236}">
                <a16:creationId xmlns:a16="http://schemas.microsoft.com/office/drawing/2014/main" id="{EB1DD1F2-871C-4CAA-A7CA-37783D8AD77D}"/>
              </a:ext>
            </a:extLst>
          </p:cNvPr>
          <p:cNvSpPr>
            <a:spLocks xmlns:a="http://schemas.openxmlformats.org/drawingml/2006/main" noGrp="1"/>
          </p:cNvSpPr>
          <p:nvPr/>
        </p:nvSpPr>
        <p:spPr>
          <a:xfrm xmlns:a="http://schemas.openxmlformats.org/drawingml/2006/main">
            <a:off x="685800" y="1562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Tuần 1–2: Python, tài chính, HTTP và discovery</a:t>
            </a:r>
          </a:p>
        </p:txBody>
      </p:sp>
      <p:sp>
        <p:nvSpPr>
          <p:cNvPr id="3" name="">
            <a:extLst xmlns:a="http://schemas.openxmlformats.org/drawingml/2006/main">
              <a:ext uri="{FF2B5EF4-FFF2-40B4-BE49-F238E27FC236}">
                <a16:creationId xmlns:a16="http://schemas.microsoft.com/office/drawing/2014/main" id="{10A18589-570E-40F2-8E26-8EA6DC288EE4}"/>
              </a:ext>
            </a:extLst>
          </p:cNvPr>
          <p:cNvSpPr>
            <a:spLocks xmlns:a="http://schemas.openxmlformats.org/drawingml/2006/main" noGrp="1"/>
          </p:cNvSpPr>
          <p:nvPr/>
        </p:nvSpPr>
        <p:spPr>
          <a:xfrm xmlns:a="http://schemas.openxmlformats.org/drawingml/2006/main">
            <a:off x="685800" y="21907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Tuần 3–4: OCR, SQL, pilot và đo công sức review</a:t>
            </a:r>
          </a:p>
        </p:txBody>
      </p:sp>
      <p:sp>
        <p:nvSpPr>
          <p:cNvPr id="4" name="">
            <a:extLst xmlns:a="http://schemas.openxmlformats.org/drawingml/2006/main">
              <a:ext uri="{FF2B5EF4-FFF2-40B4-BE49-F238E27FC236}">
                <a16:creationId xmlns:a16="http://schemas.microsoft.com/office/drawing/2014/main" id="{C2CF1FBA-8262-40C6-A96F-770D21E98264}"/>
              </a:ext>
            </a:extLst>
          </p:cNvPr>
          <p:cNvSpPr>
            <a:spLocks xmlns:a="http://schemas.openxmlformats.org/drawingml/2006/main" noGrp="1"/>
          </p:cNvSpPr>
          <p:nvPr/>
        </p:nvSpPr>
        <p:spPr>
          <a:xfrm xmlns:a="http://schemas.openxmlformats.org/drawingml/2006/main">
            <a:off x="685800" y="28194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Tuần 5–7: giao diện, nghiệp vụ, dataset và holdout</a:t>
            </a:r>
          </a:p>
        </p:txBody>
      </p:sp>
      <p:sp>
        <p:nvSpPr>
          <p:cNvPr id="5" name="">
            <a:extLst xmlns:a="http://schemas.openxmlformats.org/drawingml/2006/main">
              <a:ext uri="{FF2B5EF4-FFF2-40B4-BE49-F238E27FC236}">
                <a16:creationId xmlns:a16="http://schemas.microsoft.com/office/drawing/2014/main" id="{379594E4-BEE5-4752-8FFA-E78998144C01}"/>
              </a:ext>
            </a:extLst>
          </p:cNvPr>
          <p:cNvSpPr>
            <a:spLocks xmlns:a="http://schemas.openxmlformats.org/drawingml/2006/main" noGrp="1"/>
          </p:cNvSpPr>
          <p:nvPr/>
        </p:nvSpPr>
        <p:spPr>
          <a:xfrm xmlns:a="http://schemas.openxmlformats.org/drawingml/2006/main">
            <a:off x="685800" y="34480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Tuần 8–10: đánh giá, ba case và cập nhật dữ liệu</a:t>
            </a:r>
          </a:p>
        </p:txBody>
      </p:sp>
      <p:sp>
        <p:nvSpPr>
          <p:cNvPr id="6" name="">
            <a:extLst xmlns:a="http://schemas.openxmlformats.org/drawingml/2006/main">
              <a:ext uri="{FF2B5EF4-FFF2-40B4-BE49-F238E27FC236}">
                <a16:creationId xmlns:a16="http://schemas.microsoft.com/office/drawing/2014/main" id="{5BAAF2C8-78BE-496A-96EA-A462EB014EFB}"/>
              </a:ext>
            </a:extLst>
          </p:cNvPr>
          <p:cNvSpPr>
            <a:spLocks xmlns:a="http://schemas.openxmlformats.org/drawingml/2006/main" noGrp="1"/>
          </p:cNvSpPr>
          <p:nvPr/>
        </p:nvSpPr>
        <p:spPr>
          <a:xfrm xmlns:a="http://schemas.openxmlformats.org/drawingml/2006/main">
            <a:off x="685800" y="40767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Tuần 11–13: báo cáo, demo, luyện bảo vệ và buffer</a:t>
            </a:r>
          </a:p>
        </p:txBody>
      </p:sp>
      <p:sp>
        <p:nvSpPr>
          <p:cNvPr id="7" name="">
            <a:extLst xmlns:a="http://schemas.openxmlformats.org/drawingml/2006/main">
              <a:ext uri="{FF2B5EF4-FFF2-40B4-BE49-F238E27FC236}">
                <a16:creationId xmlns:a16="http://schemas.microsoft.com/office/drawing/2014/main" id="{6CE3FEB2-6906-435B-ACE0-2BDA4B1C017B}"/>
              </a:ext>
            </a:extLst>
          </p:cNvPr>
          <p:cNvSpPr>
            <a:spLocks xmlns:a="http://schemas.openxmlformats.org/drawingml/2006/main" noGrp="1"/>
          </p:cNvSpPr>
          <p:nvPr/>
        </p:nvSpPr>
        <p:spPr>
          <a:xfrm xmlns:a="http://schemas.openxmlformats.org/drawingml/2006/main">
            <a:off x="685800" y="47053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10–12 giờ/tuần; Word và slide hai tuần một lần</a:t>
            </a:r>
          </a:p>
        </p:txBody>
      </p:sp>
    </p:spTree>
    <p:extLst>
      <p:ext uri="{BB962C8B-B14F-4D97-AF65-F5344CB8AC3E}">
        <p14:creationId xmlns:p14="http://schemas.microsoft.com/office/powerpoint/2010/main" val="3762739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398A27-AE43-4C08-85DB-45F68EF3EF6A}"/>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52F43"/>
                </a:solidFill>
                <a:latin typeface="Arial"/>
                <a:ea typeface="Arial"/>
                <a:cs typeface="Arial"/>
              </a:defRPr>
            </a:pPr>
            <a:r>
              <a:rPr sz="3300" b="1">
                <a:solidFill>
                  <a:srgbClr val="152F43"/>
                </a:solidFill>
                <a:latin typeface="Arial"/>
                <a:ea typeface="Arial"/>
                <a:cs typeface="Arial"/>
              </a:rPr>
              <a:t>Nghiệm thu và hướng tốt nghiệp</a:t>
            </a:r>
          </a:p>
        </p:txBody>
      </p:sp>
      <p:sp>
        <p:nvSpPr>
          <p:cNvPr id="2" name="">
            <a:extLst xmlns:a="http://schemas.openxmlformats.org/drawingml/2006/main">
              <a:ext uri="{FF2B5EF4-FFF2-40B4-BE49-F238E27FC236}">
                <a16:creationId xmlns:a16="http://schemas.microsoft.com/office/drawing/2014/main" id="{0CBE1E78-7F9A-41B7-A2ED-24CD7D3F1CD1}"/>
              </a:ext>
            </a:extLst>
          </p:cNvPr>
          <p:cNvSpPr>
            <a:spLocks xmlns:a="http://schemas.openxmlformats.org/drawingml/2006/main" noGrp="1"/>
          </p:cNvSpPr>
          <p:nvPr/>
        </p:nvSpPr>
        <p:spPr>
          <a:xfrm xmlns:a="http://schemas.openxmlformats.org/drawingml/2006/main">
            <a:off x="685800" y="1562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IT: tự tìm và tải, trích xuất, review, dữ liệu và UI</a:t>
            </a:r>
          </a:p>
        </p:txBody>
      </p:sp>
      <p:sp>
        <p:nvSpPr>
          <p:cNvPr id="3" name="">
            <a:extLst xmlns:a="http://schemas.openxmlformats.org/drawingml/2006/main">
              <a:ext uri="{FF2B5EF4-FFF2-40B4-BE49-F238E27FC236}">
                <a16:creationId xmlns:a16="http://schemas.microsoft.com/office/drawing/2014/main" id="{870E12C4-45C3-4782-A2D6-ABC01DFFDA7D}"/>
              </a:ext>
            </a:extLst>
          </p:cNvPr>
          <p:cNvSpPr>
            <a:spLocks xmlns:a="http://schemas.openxmlformats.org/drawingml/2006/main" noGrp="1"/>
          </p:cNvSpPr>
          <p:nvPr/>
        </p:nvSpPr>
        <p:spPr>
          <a:xfrm xmlns:a="http://schemas.openxmlformats.org/drawingml/2006/main">
            <a:off x="685800" y="21907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Đo độ đúng trên holdout, coverage và phút sửa tay</a:t>
            </a:r>
          </a:p>
        </p:txBody>
      </p:sp>
      <p:sp>
        <p:nvSpPr>
          <p:cNvPr id="4" name="">
            <a:extLst xmlns:a="http://schemas.openxmlformats.org/drawingml/2006/main">
              <a:ext uri="{FF2B5EF4-FFF2-40B4-BE49-F238E27FC236}">
                <a16:creationId xmlns:a16="http://schemas.microsoft.com/office/drawing/2014/main" id="{BAAD3FBB-49D3-4F7F-9C9C-39B2C4304484}"/>
              </a:ext>
            </a:extLst>
          </p:cNvPr>
          <p:cNvSpPr>
            <a:spLocks xmlns:a="http://schemas.openxmlformats.org/drawingml/2006/main" noGrp="1"/>
          </p:cNvSpPr>
          <p:nvPr/>
        </p:nvSpPr>
        <p:spPr>
          <a:xfrm xmlns:a="http://schemas.openxmlformats.org/drawingml/2006/main">
            <a:off x="685800" y="28194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Project: giải thích lợi nhuận – CFO – DPS qua case</a:t>
            </a:r>
          </a:p>
        </p:txBody>
      </p:sp>
      <p:sp>
        <p:nvSpPr>
          <p:cNvPr id="5" name="">
            <a:extLst xmlns:a="http://schemas.openxmlformats.org/drawingml/2006/main">
              <a:ext uri="{FF2B5EF4-FFF2-40B4-BE49-F238E27FC236}">
                <a16:creationId xmlns:a16="http://schemas.microsoft.com/office/drawing/2014/main" id="{A5733933-A467-4821-A946-5D40640F2EE8}"/>
              </a:ext>
            </a:extLst>
          </p:cNvPr>
          <p:cNvSpPr>
            <a:spLocks xmlns:a="http://schemas.openxmlformats.org/drawingml/2006/main" noGrp="1"/>
          </p:cNvSpPr>
          <p:nvPr/>
        </p:nvSpPr>
        <p:spPr>
          <a:xfrm xmlns:a="http://schemas.openxmlformats.org/drawingml/2006/main">
            <a:off x="685800" y="34480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Tốt nghiệp: dự đoán duy trì hoặc giảm DPS công bố</a:t>
            </a:r>
          </a:p>
        </p:txBody>
      </p:sp>
      <p:sp>
        <p:nvSpPr>
          <p:cNvPr id="6" name="">
            <a:extLst xmlns:a="http://schemas.openxmlformats.org/drawingml/2006/main">
              <a:ext uri="{FF2B5EF4-FFF2-40B4-BE49-F238E27FC236}">
                <a16:creationId xmlns:a16="http://schemas.microsoft.com/office/drawing/2014/main" id="{1E368AC8-94D4-4215-B85A-CFC2797E4A1D}"/>
              </a:ext>
            </a:extLst>
          </p:cNvPr>
          <p:cNvSpPr>
            <a:spLocks xmlns:a="http://schemas.openxmlformats.org/drawingml/2006/main" noGrp="1"/>
          </p:cNvSpPr>
          <p:nvPr/>
        </p:nvSpPr>
        <p:spPr>
          <a:xfrm xmlns:a="http://schemas.openxmlformats.org/drawingml/2006/main">
            <a:off x="685800" y="40767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Cần lịch sử, cutoff đúng và nhãn tương lai đủ chín</a:t>
            </a:r>
          </a:p>
        </p:txBody>
      </p:sp>
      <p:sp>
        <p:nvSpPr>
          <p:cNvPr id="7" name="">
            <a:extLst xmlns:a="http://schemas.openxmlformats.org/drawingml/2006/main">
              <a:ext uri="{FF2B5EF4-FFF2-40B4-BE49-F238E27FC236}">
                <a16:creationId xmlns:a16="http://schemas.microsoft.com/office/drawing/2014/main" id="{E6AA2C54-7B80-4427-BC6E-8AE65F47EC41}"/>
              </a:ext>
            </a:extLst>
          </p:cNvPr>
          <p:cNvSpPr>
            <a:spLocks xmlns:a="http://schemas.openxmlformats.org/drawingml/2006/main" noGrp="1"/>
          </p:cNvSpPr>
          <p:nvPr/>
        </p:nvSpPr>
        <p:spPr>
          <a:xfrm xmlns:a="http://schemas.openxmlformats.org/drawingml/2006/main">
            <a:off x="685800" y="47053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F43"/>
                </a:solidFill>
                <a:latin typeface="Arial"/>
                <a:ea typeface="Arial"/>
                <a:cs typeface="Arial"/>
              </a:defRPr>
            </a:pPr>
            <a:r>
              <a:rPr sz="2175" b="0">
                <a:solidFill>
                  <a:srgbClr val="152F43"/>
                </a:solidFill>
                <a:latin typeface="Arial"/>
                <a:ea typeface="Arial"/>
                <a:cs typeface="Arial"/>
              </a:rPr>
              <a:t>Baseline và đánh giá theo thời gian sau gate dữ liệu</a:t>
            </a:r>
          </a:p>
        </p:txBody>
      </p:sp>
    </p:spTree>
    <p:extLst>
      <p:ext uri="{BB962C8B-B14F-4D97-AF65-F5344CB8AC3E}">
        <p14:creationId xmlns:p14="http://schemas.microsoft.com/office/powerpoint/2010/main" val="16648378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2026-10-03T12:49:37.0700000Z</dcterms:created>
  <dcterms:modified xsi:type="dcterms:W3CDTF">2026-10-03T12:49:37.0700000Z</dcterms:modified>
</coreProperties>
</file>